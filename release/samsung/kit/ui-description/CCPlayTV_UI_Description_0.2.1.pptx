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 id="2147483775" r:id="rId2"/>
    <p:sldMasterId id="2147483779" r:id="rId3"/>
    <p:sldMasterId id="2147483781" r:id="rId4"/>
    <p:sldMasterId id="2147483783" r:id="rId5"/>
    <p:sldMasterId id="2147483785" r:id="rId6"/>
    <p:sldMasterId id="2147483787" r:id="rId7"/>
    <p:sldMasterId id="2147483777" r:id="rId8"/>
  </p:sldMasterIdLst>
  <p:notesMasterIdLst>
    <p:notesMasterId r:id="rId30"/>
  </p:notesMasterIdLst>
  <p:handoutMasterIdLst>
    <p:handoutMasterId r:id="rId31"/>
  </p:handoutMasterIdLst>
  <p:sldIdLst>
    <p:sldId id="290" r:id="rId10"/>
    <p:sldId id="257" r:id="rId11"/>
    <p:sldId id="258" r:id="rId12"/>
    <p:sldId id="292" r:id="rId14"/>
    <p:sldId id="304" r:id="rId17"/>
    <p:sldId id="295" r:id="rId18"/>
    <p:sldId id="296" r:id="rId19"/>
    <p:sldId id="308" r:id="rId37"/>
    <p:sldId id="309" r:id="rId38"/>
    <p:sldId id="310" r:id="rId39"/>
    <p:sldId id="311" r:id="rId40"/>
    <p:sldId id="312" r:id="rId41"/>
    <p:sldId id="313" r:id="rId42"/>
    <p:sldId id="314" r:id="rId43"/>
    <p:sldId id="315" r:id="rId44"/>
    <p:sldId id="305" r:id="rId22"/>
    <p:sldId id="299" r:id="rId23"/>
    <p:sldId id="316" r:id="rId45"/>
    <p:sldId id="317"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306" r:id="rId26"/>
    <p:sldId id="302" r:id="rId27"/>
    <p:sldId id="334" r:id="rId63"/>
    <p:sldId id="307" r:id="rId28"/>
    <p:sldId id="303" r:id="rId29"/>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C46F"/>
    <a:srgbClr val="E08B56"/>
    <a:srgbClr val="2B3957"/>
    <a:srgbClr val="374971"/>
    <a:srgbClr val="516BA5"/>
    <a:srgbClr val="3B3838"/>
    <a:srgbClr val="FFFFFF"/>
    <a:srgbClr val="82F7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67" autoAdjust="0"/>
    <p:restoredTop sz="94660"/>
  </p:normalViewPr>
  <p:slideViewPr>
    <p:cSldViewPr>
      <p:cViewPr varScale="1">
        <p:scale>
          <a:sx n="72" d="100"/>
          <a:sy n="72" d="100"/>
        </p:scale>
        <p:origin x="1146"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01" d="100"/>
          <a:sy n="101" d="100"/>
        </p:scale>
        <p:origin x="269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4" Type="http://schemas.openxmlformats.org/officeDocument/2006/relationships/slide" Target="slides/slide6.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2" Type="http://schemas.openxmlformats.org/officeDocument/2006/relationships/slide" Target="slides/slide14.xml"/><Relationship Id="rId23" Type="http://schemas.openxmlformats.org/officeDocument/2006/relationships/slide" Target="slides/slide15.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4DAB93-CEFC-4FC9-839F-0BEB0EF2FF73}" type="datetimeFigureOut">
              <a:rPr lang="pl-PL" smtClean="0"/>
              <a:t>2018-04-10</a:t>
            </a:fld>
            <a:endParaRPr lang="pl-PL"/>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431A94-3DF5-481E-B085-FF694E4069A2}" type="slidenum">
              <a:rPr lang="pl-PL" smtClean="0"/>
              <a:t>‹#›</a:t>
            </a:fld>
            <a:endParaRPr lang="pl-PL"/>
          </a:p>
        </p:txBody>
      </p:sp>
    </p:spTree>
    <p:extLst>
      <p:ext uri="{BB962C8B-B14F-4D97-AF65-F5344CB8AC3E}">
        <p14:creationId xmlns:p14="http://schemas.microsoft.com/office/powerpoint/2010/main" val="1364347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FA9AA8-DED1-45DB-B35B-C8925B19C961}" type="datetimeFigureOut">
              <a:rPr lang="pl-PL" smtClean="0"/>
              <a:t>2018-04-10</a:t>
            </a:fld>
            <a:endParaRPr lang="pl-PL"/>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08FC8-769B-485C-8357-A074C463AB08}" type="slidenum">
              <a:rPr lang="pl-PL" smtClean="0"/>
              <a:t>‹#›</a:t>
            </a:fld>
            <a:endParaRPr lang="pl-PL"/>
          </a:p>
        </p:txBody>
      </p:sp>
    </p:spTree>
    <p:extLst>
      <p:ext uri="{BB962C8B-B14F-4D97-AF65-F5344CB8AC3E}">
        <p14:creationId xmlns:p14="http://schemas.microsoft.com/office/powerpoint/2010/main" val="312705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108FC8-769B-485C-8357-A074C463AB08}" type="slidenum">
              <a:rPr lang="pl-PL" smtClean="0"/>
              <a:t>11</a:t>
            </a:fld>
            <a:endParaRPr lang="pl-PL"/>
          </a:p>
        </p:txBody>
      </p:sp>
    </p:spTree>
    <p:extLst>
      <p:ext uri="{BB962C8B-B14F-4D97-AF65-F5344CB8AC3E}">
        <p14:creationId xmlns:p14="http://schemas.microsoft.com/office/powerpoint/2010/main" val="3714591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및 내용">
    <p:bg>
      <p:bgRef idx="1001">
        <a:schemeClr val="bg1"/>
      </p:bgRef>
    </p:bg>
    <p:spTree>
      <p:nvGrpSpPr>
        <p:cNvPr id="1" name=""/>
        <p:cNvGrpSpPr/>
        <p:nvPr/>
      </p:nvGrpSpPr>
      <p:grpSpPr>
        <a:xfrm>
          <a:off x="0" y="0"/>
          <a:ext cx="0" cy="0"/>
          <a:chOff x="0" y="0"/>
          <a:chExt cx="0" cy="0"/>
        </a:xfrm>
      </p:grpSpPr>
      <p:cxnSp>
        <p:nvCxnSpPr>
          <p:cNvPr id="39" name="Straight Connector 38"/>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457200" y="365125"/>
            <a:ext cx="8229600" cy="615603"/>
          </a:xfrm>
          <a:prstGeom prst="rect">
            <a:avLst/>
          </a:prstGeom>
        </p:spPr>
        <p:txBody>
          <a:bodyPr vert="horz" lIns="91440" tIns="45720" rIns="91440" bIns="45720" rtlCol="0" anchor="ctr">
            <a:noAutofit/>
          </a:bodyPr>
          <a:lstStyle/>
          <a:p>
            <a:r>
              <a:rPr lang="en-US" dirty="0"/>
              <a:t>Click to edit Master title style</a:t>
            </a:r>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48"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bg>
      <p:bgRef idx="1001">
        <a:schemeClr val="bg1"/>
      </p:bgRef>
    </p:bg>
    <p:spTree>
      <p:nvGrpSpPr>
        <p:cNvPr id="1" name=""/>
        <p:cNvGrpSpPr/>
        <p:nvPr/>
      </p:nvGrpSpPr>
      <p:grpSpPr>
        <a:xfrm>
          <a:off x="0" y="0"/>
          <a:ext cx="0" cy="0"/>
          <a:chOff x="0" y="0"/>
          <a:chExt cx="0" cy="0"/>
        </a:xfrm>
      </p:grpSpPr>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10"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25214654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nguage-Option">
    <p:bg>
      <p:bgRef idx="1001">
        <a:schemeClr val="bg1"/>
      </p:bgRef>
    </p:bg>
    <p:spTree>
      <p:nvGrpSpPr>
        <p:cNvPr id="1" name=""/>
        <p:cNvGrpSpPr/>
        <p:nvPr/>
      </p:nvGrpSpPr>
      <p:grpSpPr>
        <a:xfrm>
          <a:off x="0" y="0"/>
          <a:ext cx="0" cy="0"/>
          <a:chOff x="0" y="0"/>
          <a:chExt cx="0" cy="0"/>
        </a:xfrm>
      </p:grpSpPr>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7"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38522051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mote-Key-map">
    <p:bg>
      <p:bgRef idx="1001">
        <a:schemeClr val="bg1"/>
      </p:bgRef>
    </p:bg>
    <p:spTree>
      <p:nvGrpSpPr>
        <p:cNvPr id="1" name=""/>
        <p:cNvGrpSpPr/>
        <p:nvPr/>
      </p:nvGrpSpPr>
      <p:grpSpPr>
        <a:xfrm>
          <a:off x="0" y="0"/>
          <a:ext cx="0" cy="0"/>
          <a:chOff x="0" y="0"/>
          <a:chExt cx="0" cy="0"/>
        </a:xfrm>
      </p:grpSpPr>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7"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327459745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제목 및 내용">
    <p:bg>
      <p:bgRef idx="1001">
        <a:schemeClr val="bg1"/>
      </p:bgRef>
    </p:bg>
    <p:spTree>
      <p:nvGrpSpPr>
        <p:cNvPr id="1" name=""/>
        <p:cNvGrpSpPr/>
        <p:nvPr/>
      </p:nvGrpSpPr>
      <p:grpSpPr>
        <a:xfrm>
          <a:off x="0" y="0"/>
          <a:ext cx="0" cy="0"/>
          <a:chOff x="0" y="0"/>
          <a:chExt cx="0" cy="0"/>
        </a:xfrm>
      </p:grpSpPr>
      <p:cxnSp>
        <p:nvCxnSpPr>
          <p:cNvPr id="39" name="Straight Connector 38"/>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457200" y="365125"/>
            <a:ext cx="8229600" cy="615603"/>
          </a:xfrm>
          <a:prstGeom prst="rect">
            <a:avLst/>
          </a:prstGeom>
        </p:spPr>
        <p:txBody>
          <a:bodyPr vert="horz" lIns="91440" tIns="45720" rIns="91440" bIns="45720" rtlCol="0" anchor="ctr">
            <a:noAutofit/>
          </a:bodyPr>
          <a:lstStyle/>
          <a:p>
            <a:r>
              <a:rPr lang="en-US" dirty="0"/>
              <a:t>Click to edit Master title style</a:t>
            </a:r>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48"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68103485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creen-Element">
    <p:bg>
      <p:bgRef idx="1001">
        <a:schemeClr val="bg1"/>
      </p:bgRef>
    </p:bg>
    <p:spTree>
      <p:nvGrpSpPr>
        <p:cNvPr id="1" name=""/>
        <p:cNvGrpSpPr/>
        <p:nvPr/>
      </p:nvGrpSpPr>
      <p:grpSpPr>
        <a:xfrm>
          <a:off x="0" y="0"/>
          <a:ext cx="0" cy="0"/>
          <a:chOff x="0" y="0"/>
          <a:chExt cx="0" cy="0"/>
        </a:xfrm>
      </p:grpSpPr>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7"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62247109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제목 및 내용">
    <p:bg>
      <p:bgRef idx="1001">
        <a:schemeClr val="bg1"/>
      </p:bgRef>
    </p:bg>
    <p:spTree>
      <p:nvGrpSpPr>
        <p:cNvPr id="1" name=""/>
        <p:cNvGrpSpPr/>
        <p:nvPr/>
      </p:nvGrpSpPr>
      <p:grpSpPr>
        <a:xfrm>
          <a:off x="0" y="0"/>
          <a:ext cx="0" cy="0"/>
          <a:chOff x="0" y="0"/>
          <a:chExt cx="0" cy="0"/>
        </a:xfrm>
      </p:grpSpPr>
      <p:cxnSp>
        <p:nvCxnSpPr>
          <p:cNvPr id="39" name="Straight Connector 38"/>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457200" y="365125"/>
            <a:ext cx="8229600" cy="615603"/>
          </a:xfrm>
          <a:prstGeom prst="rect">
            <a:avLst/>
          </a:prstGeom>
        </p:spPr>
        <p:txBody>
          <a:bodyPr vert="horz" lIns="91440" tIns="45720" rIns="91440" bIns="45720" rtlCol="0" anchor="ctr">
            <a:noAutofit/>
          </a:bodyPr>
          <a:lstStyle/>
          <a:p>
            <a:r>
              <a:rPr lang="en-US" dirty="0"/>
              <a:t>Click to edit Master title style</a:t>
            </a:r>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48"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5732088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I-Structure">
    <p:bg>
      <p:bgRef idx="1001">
        <a:schemeClr val="bg1"/>
      </p:bgRef>
    </p:bg>
    <p:spTree>
      <p:nvGrpSpPr>
        <p:cNvPr id="1" name=""/>
        <p:cNvGrpSpPr/>
        <p:nvPr/>
      </p:nvGrpSpPr>
      <p:grpSpPr>
        <a:xfrm>
          <a:off x="0" y="0"/>
          <a:ext cx="0" cy="0"/>
          <a:chOff x="0" y="0"/>
          <a:chExt cx="0" cy="0"/>
        </a:xfrm>
      </p:grpSpPr>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7"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222018236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제목 및 내용">
    <p:bg>
      <p:bgRef idx="1001">
        <a:schemeClr val="bg1"/>
      </p:bgRef>
    </p:bg>
    <p:spTree>
      <p:nvGrpSpPr>
        <p:cNvPr id="1" name=""/>
        <p:cNvGrpSpPr/>
        <p:nvPr/>
      </p:nvGrpSpPr>
      <p:grpSpPr>
        <a:xfrm>
          <a:off x="0" y="0"/>
          <a:ext cx="0" cy="0"/>
          <a:chOff x="0" y="0"/>
          <a:chExt cx="0" cy="0"/>
        </a:xfrm>
      </p:grpSpPr>
      <p:cxnSp>
        <p:nvCxnSpPr>
          <p:cNvPr id="39" name="Straight Connector 38"/>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1" name="Title Placeholder 3"/>
          <p:cNvSpPr>
            <a:spLocks noGrp="1"/>
          </p:cNvSpPr>
          <p:nvPr>
            <p:ph type="title"/>
          </p:nvPr>
        </p:nvSpPr>
        <p:spPr>
          <a:xfrm>
            <a:off x="457200" y="365125"/>
            <a:ext cx="8229600" cy="615603"/>
          </a:xfrm>
          <a:prstGeom prst="rect">
            <a:avLst/>
          </a:prstGeom>
        </p:spPr>
        <p:txBody>
          <a:bodyPr vert="horz" lIns="91440" tIns="45720" rIns="91440" bIns="45720" rtlCol="0" anchor="ctr">
            <a:noAutofit/>
          </a:bodyPr>
          <a:lstStyle/>
          <a:p>
            <a:r>
              <a:rPr lang="en-US" dirty="0"/>
              <a:t>Click to edit Master title style</a:t>
            </a:r>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48"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65355662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se-Case">
    <p:bg>
      <p:bgRef idx="1001">
        <a:schemeClr val="bg1"/>
      </p:bgRef>
    </p:bg>
    <p:spTree>
      <p:nvGrpSpPr>
        <p:cNvPr id="1" name=""/>
        <p:cNvGrpSpPr/>
        <p:nvPr/>
      </p:nvGrpSpPr>
      <p:grpSpPr>
        <a:xfrm>
          <a:off x="0" y="0"/>
          <a:ext cx="0" cy="0"/>
          <a:chOff x="0" y="0"/>
          <a:chExt cx="0" cy="0"/>
        </a:xfrm>
      </p:grpSpPr>
      <p:sp>
        <p:nvSpPr>
          <p:cNvPr id="41" name="Title Placeholder 3"/>
          <p:cNvSpPr>
            <a:spLocks noGrp="1"/>
          </p:cNvSpPr>
          <p:nvPr>
            <p:ph type="title"/>
          </p:nvPr>
        </p:nvSpPr>
        <p:spPr>
          <a:xfrm>
            <a:off x="2123728" y="365125"/>
            <a:ext cx="6563072" cy="615603"/>
          </a:xfrm>
          <a:prstGeom prst="rect">
            <a:avLst/>
          </a:prstGeom>
        </p:spPr>
        <p:txBody>
          <a:bodyPr vert="horz" lIns="91440" tIns="45720" rIns="91440" bIns="45720" rtlCol="0" anchor="ctr">
            <a:noAutofit/>
          </a:bodyPr>
          <a:lstStyle/>
          <a:p>
            <a:endParaRPr lang="pl-PL" dirty="0"/>
          </a:p>
        </p:txBody>
      </p:sp>
      <p:sp>
        <p:nvSpPr>
          <p:cNvPr id="43" name="Slide Number Placeholder 5"/>
          <p:cNvSpPr>
            <a:spLocks noGrp="1"/>
          </p:cNvSpPr>
          <p:nvPr>
            <p:ph type="sldNum" sz="quarter" idx="4"/>
          </p:nvPr>
        </p:nvSpPr>
        <p:spPr>
          <a:xfrm>
            <a:off x="7051104" y="6597352"/>
            <a:ext cx="2057400" cy="196132"/>
          </a:xfrm>
          <a:prstGeom prst="rect">
            <a:avLst/>
          </a:prstGeom>
        </p:spPr>
        <p:txBody>
          <a:bodyPr vert="horz" lIns="91440" tIns="45720" rIns="91440" bIns="45720" rtlCol="0" anchor="ctr"/>
          <a:lstStyle>
            <a:lvl1pPr algn="r">
              <a:defRPr sz="1200">
                <a:solidFill>
                  <a:schemeClr val="bg1"/>
                </a:solidFill>
              </a:defRPr>
            </a:lvl1pPr>
          </a:lstStyle>
          <a:p>
            <a:fld id="{42AF35AD-09C2-4EBD-8934-72FD947EF48F}" type="slidenum">
              <a:rPr lang="pl-PL" smtClean="0"/>
              <a:pPr/>
              <a:t>‹#›</a:t>
            </a:fld>
            <a:endParaRPr lang="pl-PL" dirty="0"/>
          </a:p>
        </p:txBody>
      </p:sp>
      <p:sp>
        <p:nvSpPr>
          <p:cNvPr id="7" name="내용 개체 틀 2"/>
          <p:cNvSpPr>
            <a:spLocks noGrp="1"/>
          </p:cNvSpPr>
          <p:nvPr>
            <p:ph idx="1" hasCustomPrompt="1"/>
          </p:nvPr>
        </p:nvSpPr>
        <p:spPr>
          <a:xfrm>
            <a:off x="457200" y="1935480"/>
            <a:ext cx="8229600" cy="4389120"/>
          </a:xfrm>
          <a:prstGeom prst="rect">
            <a:avLst/>
          </a:prstGeom>
        </p:spPr>
        <p:txBody>
          <a:bodyPr/>
          <a:lstStyle>
            <a:lvl1pPr eaLnBrk="1" latinLnBrk="0" hangingPunct="1">
              <a:spcAft>
                <a:spcPts val="600"/>
              </a:spcAft>
              <a:defRPr/>
            </a:lvl1pPr>
            <a:lvl2pPr marL="640080" indent="-246888" eaLnBrk="1" latinLnBrk="0" hangingPunct="1">
              <a:spcAft>
                <a:spcPts val="600"/>
              </a:spcAft>
              <a:buClr>
                <a:srgbClr val="374971"/>
              </a:buClr>
              <a:buFont typeface="Arial" panose="020B0604020202020204" pitchFamily="34" charset="0"/>
              <a:buChar char="−"/>
              <a:defRPr/>
            </a:lvl2pPr>
            <a:lvl3pPr marL="914400" indent="-246888" eaLnBrk="1" latinLnBrk="0" hangingPunct="1">
              <a:spcAft>
                <a:spcPts val="600"/>
              </a:spcAft>
              <a:buClr>
                <a:srgbClr val="374971"/>
              </a:buClr>
              <a:buFont typeface="Wingdings" panose="05000000000000000000" pitchFamily="2" charset="2"/>
              <a:buChar char="§"/>
              <a:defRPr/>
            </a:lvl3pPr>
            <a:lvl4pPr marL="1188720" indent="-210312" eaLnBrk="1" latinLnBrk="0" hangingPunct="1">
              <a:spcAft>
                <a:spcPts val="600"/>
              </a:spcAft>
              <a:buClr>
                <a:srgbClr val="374971"/>
              </a:buClr>
              <a:buFont typeface="Arial" panose="020B0604020202020204" pitchFamily="34" charset="0"/>
              <a:buChar char="−"/>
              <a:defRPr/>
            </a:lvl4pPr>
            <a:lvl5pPr marL="1463040" indent="-210312" eaLnBrk="1" latinLnBrk="0" hangingPunct="1">
              <a:spcAft>
                <a:spcPts val="600"/>
              </a:spcAft>
              <a:buClr>
                <a:srgbClr val="374971"/>
              </a:buClr>
              <a:buFont typeface="Wingdings" panose="05000000000000000000" pitchFamily="2" charset="2"/>
              <a:buChar char="§"/>
              <a:defRPr/>
            </a:lvl5pPr>
          </a:lstStyle>
          <a:p>
            <a:pPr lvl="0" eaLnBrk="1" latinLnBrk="0" hangingPunct="1"/>
            <a:r>
              <a:rPr lang="pl-PL" altLang="ko-KR" dirty="0"/>
              <a:t>Sample text</a:t>
            </a:r>
          </a:p>
          <a:p>
            <a:pPr lvl="1" eaLnBrk="1" latinLnBrk="0" hangingPunct="1"/>
            <a:r>
              <a:rPr lang="pl-PL" altLang="ko-KR" dirty="0"/>
              <a:t>Sample text</a:t>
            </a:r>
          </a:p>
          <a:p>
            <a:pPr lvl="2" eaLnBrk="1" latinLnBrk="0" hangingPunct="1"/>
            <a:r>
              <a:rPr lang="pl-PL" altLang="ko-KR" dirty="0"/>
              <a:t>Sample text</a:t>
            </a:r>
          </a:p>
          <a:p>
            <a:pPr lvl="3" eaLnBrk="1" latinLnBrk="0" hangingPunct="1"/>
            <a:r>
              <a:rPr lang="pl-PL" altLang="ko-KR" dirty="0"/>
              <a:t>Sample text</a:t>
            </a:r>
          </a:p>
          <a:p>
            <a:pPr lvl="4" eaLnBrk="1" latinLnBrk="0" hangingPunct="1"/>
            <a:r>
              <a:rPr lang="pl-PL" altLang="ko-KR" dirty="0"/>
              <a:t>Sample text</a:t>
            </a:r>
          </a:p>
        </p:txBody>
      </p:sp>
    </p:spTree>
    <p:extLst>
      <p:ext uri="{BB962C8B-B14F-4D97-AF65-F5344CB8AC3E}">
        <p14:creationId xmlns:p14="http://schemas.microsoft.com/office/powerpoint/2010/main" val="160931707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pplication Name">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827584" y="2852936"/>
            <a:ext cx="7848872" cy="1008112"/>
          </a:xfrm>
          <a:prstGeom prst="rect">
            <a:avLst/>
          </a:prstGeom>
        </p:spPr>
        <p:txBody>
          <a:bodyPr/>
          <a:lstStyle>
            <a:lvl1pPr marL="0" indent="0">
              <a:buNone/>
              <a:defRPr/>
            </a:lvl1pPr>
          </a:lstStyle>
          <a:p>
            <a:pPr lvl="0"/>
            <a:r>
              <a:rPr lang="pl-PL" dirty="0"/>
              <a:t>Application Name</a:t>
            </a:r>
          </a:p>
        </p:txBody>
      </p:sp>
      <p:sp>
        <p:nvSpPr>
          <p:cNvPr id="13" name="Text Placeholder 7"/>
          <p:cNvSpPr>
            <a:spLocks noGrp="1"/>
          </p:cNvSpPr>
          <p:nvPr>
            <p:ph type="body" sz="quarter" idx="11" hasCustomPrompt="1"/>
          </p:nvPr>
        </p:nvSpPr>
        <p:spPr>
          <a:xfrm>
            <a:off x="827584" y="3933056"/>
            <a:ext cx="7848872" cy="576064"/>
          </a:xfrm>
          <a:prstGeom prst="rect">
            <a:avLst/>
          </a:prstGeom>
        </p:spPr>
        <p:txBody>
          <a:bodyPr/>
          <a:lstStyle>
            <a:lvl1pPr marL="0" indent="0">
              <a:buNone/>
              <a:defRPr sz="4000" b="0"/>
            </a:lvl1pPr>
          </a:lstStyle>
          <a:p>
            <a:pPr lvl="0"/>
            <a:r>
              <a:rPr lang="pl-PL" dirty="0"/>
              <a:t>CP Name</a:t>
            </a:r>
          </a:p>
        </p:txBody>
      </p:sp>
    </p:spTree>
    <p:extLst>
      <p:ext uri="{BB962C8B-B14F-4D97-AF65-F5344CB8AC3E}">
        <p14:creationId xmlns:p14="http://schemas.microsoft.com/office/powerpoint/2010/main" val="41691525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4.xml"/><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5.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6.xml"/><Relationship Id="rId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7.xml"/><Relationship Id="rId3" Type="http://schemas.openxmlformats.org/officeDocument/2006/relationships/image" Target="../media/image6.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29" name="Straight Connector 28"/>
          <p:cNvCxnSpPr/>
          <p:nvPr userDrawn="1"/>
        </p:nvCxnSpPr>
        <p:spPr>
          <a:xfrm>
            <a:off x="0" y="980728"/>
            <a:ext cx="8686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4" name="Title Placeholder 3"/>
          <p:cNvSpPr>
            <a:spLocks noGrp="1"/>
          </p:cNvSpPr>
          <p:nvPr>
            <p:ph type="title"/>
          </p:nvPr>
        </p:nvSpPr>
        <p:spPr>
          <a:xfrm>
            <a:off x="457200" y="365125"/>
            <a:ext cx="8229600" cy="615603"/>
          </a:xfrm>
          <a:prstGeom prst="rect">
            <a:avLst/>
          </a:prstGeom>
        </p:spPr>
        <p:txBody>
          <a:bodyPr vert="horz" lIns="91440" tIns="45720" rIns="91440" bIns="45720" rtlCol="0" anchor="ctr">
            <a:noAutofit/>
          </a:bodyPr>
          <a:lstStyle/>
          <a:p>
            <a:r>
              <a:rPr lang="en-US" dirty="0"/>
              <a:t>Click to edit Master title style</a:t>
            </a:r>
            <a:endParaRPr lang="pl-PL" dirty="0"/>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3774" r:id="rId1"/>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0"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29" name="Straight Connector 28"/>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Tree>
    <p:extLst>
      <p:ext uri="{BB962C8B-B14F-4D97-AF65-F5344CB8AC3E}">
        <p14:creationId xmlns:p14="http://schemas.microsoft.com/office/powerpoint/2010/main" val="3747298422"/>
      </p:ext>
    </p:extLst>
  </p:cSld>
  <p:clrMap bg1="lt1" tx1="dk1" bg2="lt2" tx2="dk2" accent1="accent1" accent2="accent2" accent3="accent3" accent4="accent4" accent5="accent5" accent6="accent6" hlink="hlink" folHlink="folHlink"/>
  <p:sldLayoutIdLst>
    <p:sldLayoutId id="2147483776" r:id="rId1"/>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188640"/>
            <a:ext cx="720000" cy="720000"/>
          </a:xfrm>
          <a:prstGeom prst="rect">
            <a:avLst/>
          </a:prstGeom>
        </p:spPr>
      </p:pic>
      <p:cxnSp>
        <p:nvCxnSpPr>
          <p:cNvPr id="9" name="Straight Connector 28">
            <a:extLst>
              <a:ext uri="{FF2B5EF4-FFF2-40B4-BE49-F238E27FC236}">
                <a16:creationId xmlns:a16="http://schemas.microsoft.com/office/drawing/2014/main" id="{6B2A45FA-DAC2-4EEA-AF36-44EDBBC7BD62}"/>
              </a:ext>
            </a:extLst>
          </p:cNvPr>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607538"/>
      </p:ext>
    </p:extLst>
  </p:cSld>
  <p:clrMap bg1="lt1" tx1="dk1" bg2="lt2" tx2="dk2" accent1="accent1" accent2="accent2" accent3="accent3" accent4="accent4" accent5="accent5" accent6="accent6" hlink="hlink" folHlink="folHlink"/>
  <p:sldLayoutIdLst>
    <p:sldLayoutId id="2147483780" r:id="rId1"/>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57200" y="188640"/>
            <a:ext cx="720000" cy="720000"/>
          </a:xfrm>
          <a:prstGeom prst="rect">
            <a:avLst/>
          </a:prstGeom>
        </p:spPr>
      </p:pic>
      <p:cxnSp>
        <p:nvCxnSpPr>
          <p:cNvPr id="11" name="Straight Connector 28">
            <a:extLst>
              <a:ext uri="{FF2B5EF4-FFF2-40B4-BE49-F238E27FC236}">
                <a16:creationId xmlns:a16="http://schemas.microsoft.com/office/drawing/2014/main" id="{BA2A6B3F-FE04-4D54-9193-9E92A1BFCFCE}"/>
              </a:ext>
            </a:extLst>
          </p:cNvPr>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685051"/>
      </p:ext>
    </p:extLst>
  </p:cSld>
  <p:clrMap bg1="lt1" tx1="dk1" bg2="lt2" tx2="dk2" accent1="accent1" accent2="accent2" accent3="accent3" accent4="accent4" accent5="accent5" accent6="accent6" hlink="hlink" folHlink="folHlink"/>
  <p:sldLayoutIdLst>
    <p:sldLayoutId id="2147483782" r:id="rId1"/>
    <p:sldLayoutId id="2147483791" r:id="rId2"/>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2"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57200" y="188640"/>
            <a:ext cx="720000" cy="720000"/>
          </a:xfrm>
          <a:prstGeom prst="rect">
            <a:avLst/>
          </a:prstGeom>
        </p:spPr>
      </p:pic>
      <p:cxnSp>
        <p:nvCxnSpPr>
          <p:cNvPr id="11" name="Straight Connector 28">
            <a:extLst>
              <a:ext uri="{FF2B5EF4-FFF2-40B4-BE49-F238E27FC236}">
                <a16:creationId xmlns:a16="http://schemas.microsoft.com/office/drawing/2014/main" id="{71B4FE1D-821F-4340-96D1-4274DD785B3D}"/>
              </a:ext>
            </a:extLst>
          </p:cNvPr>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495305"/>
      </p:ext>
    </p:extLst>
  </p:cSld>
  <p:clrMap bg1="lt1" tx1="dk1" bg2="lt2" tx2="dk2" accent1="accent1" accent2="accent2" accent3="accent3" accent4="accent4" accent5="accent5" accent6="accent6" hlink="hlink" folHlink="folHlink"/>
  <p:sldLayoutIdLst>
    <p:sldLayoutId id="2147483784" r:id="rId1"/>
    <p:sldLayoutId id="2147483790" r:id="rId2"/>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2" name="내용 개체 틀 2"/>
          <p:cNvSpPr txBox="1">
            <a:spLocks/>
          </p:cNvSpPr>
          <p:nvPr userDrawn="1"/>
        </p:nvSpPr>
        <p:spPr>
          <a:xfrm>
            <a:off x="457200" y="1848192"/>
            <a:ext cx="8229600" cy="4389120"/>
          </a:xfrm>
          <a:prstGeom prst="rect">
            <a:avLst/>
          </a:prstGeom>
        </p:spPr>
        <p:txBody>
          <a:bodyPr>
            <a:normAutofit/>
          </a:bodyPr>
          <a:lstStyle>
            <a:lvl1pPr marL="274320" indent="-274320" algn="l" rtl="0" eaLnBrk="1" latinLnBrk="1"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1"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1"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1"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1" hangingPunct="1">
              <a:spcBef>
                <a:spcPct val="20000"/>
              </a:spcBef>
              <a:buClr>
                <a:schemeClr val="accent4"/>
              </a:buClr>
              <a:buSzPct val="65000"/>
              <a:buFont typeface="Wingdings 2"/>
              <a:buChar char=""/>
              <a:defRPr kumimoji="0" sz="16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pPr>
              <a:buClr>
                <a:srgbClr val="374971"/>
              </a:buClr>
              <a:buFont typeface="Wingdings" panose="05000000000000000000" pitchFamily="2" charset="2"/>
              <a:buChar char="§"/>
            </a:pPr>
            <a:endParaRPr lang="pl-PL" altLang="ko-KR" sz="1800" dirty="0">
              <a:solidFill>
                <a:srgbClr val="3B3838"/>
              </a:solidFill>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57200" y="188640"/>
            <a:ext cx="720000" cy="720000"/>
          </a:xfrm>
          <a:prstGeom prst="rect">
            <a:avLst/>
          </a:prstGeom>
        </p:spPr>
      </p:pic>
      <p:cxnSp>
        <p:nvCxnSpPr>
          <p:cNvPr id="10" name="Straight Connector 28">
            <a:extLst>
              <a:ext uri="{FF2B5EF4-FFF2-40B4-BE49-F238E27FC236}">
                <a16:creationId xmlns:a16="http://schemas.microsoft.com/office/drawing/2014/main" id="{662F044E-EF3E-4AF5-85CB-A1A10605001D}"/>
              </a:ext>
            </a:extLst>
          </p:cNvPr>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476484"/>
      </p:ext>
    </p:extLst>
  </p:cSld>
  <p:clrMap bg1="lt1" tx1="dk1" bg2="lt2" tx2="dk2" accent1="accent1" accent2="accent2" accent3="accent3" accent4="accent4" accent5="accent5" accent6="accent6" hlink="hlink" folHlink="folHlink"/>
  <p:sldLayoutIdLst>
    <p:sldLayoutId id="2147483786" r:id="rId1"/>
    <p:sldLayoutId id="2147483789" r:id="rId2"/>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6525344"/>
            <a:ext cx="9144000" cy="332656"/>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Slide Number Placeholder 5"/>
          <p:cNvSpPr>
            <a:spLocks noGrp="1"/>
          </p:cNvSpPr>
          <p:nvPr>
            <p:ph type="sldNum" sz="quarter" idx="4"/>
          </p:nvPr>
        </p:nvSpPr>
        <p:spPr>
          <a:xfrm>
            <a:off x="7078166" y="6617244"/>
            <a:ext cx="2057400" cy="196132"/>
          </a:xfrm>
          <a:prstGeom prst="rect">
            <a:avLst/>
          </a:prstGeom>
        </p:spPr>
        <p:txBody>
          <a:bodyPr vert="horz" lIns="91440" tIns="45720" rIns="91440" bIns="45720" rtlCol="0" anchor="ctr"/>
          <a:lstStyle>
            <a:lvl1pPr algn="r">
              <a:defRPr sz="1200">
                <a:solidFill>
                  <a:schemeClr val="bg1"/>
                </a:solidFill>
              </a:defRPr>
            </a:lvl1pPr>
          </a:lstStyle>
          <a:p>
            <a:fld id="{12AAE51A-D9A9-4328-8D90-B9EADBAC13AD}" type="slidenum">
              <a:rPr lang="pl-PL" smtClean="0"/>
              <a:pPr/>
              <a:t>‹#›</a:t>
            </a:fld>
            <a:endParaRPr lang="pl-PL" dirty="0"/>
          </a:p>
        </p:txBody>
      </p:sp>
      <p:sp>
        <p:nvSpPr>
          <p:cNvPr id="17" name="Title Placeholder 3"/>
          <p:cNvSpPr txBox="1">
            <a:spLocks/>
          </p:cNvSpPr>
          <p:nvPr userDrawn="1"/>
        </p:nvSpPr>
        <p:spPr>
          <a:xfrm>
            <a:off x="2123728" y="365125"/>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sp>
        <p:nvSpPr>
          <p:cNvPr id="18" name="Picture Placeholder 3"/>
          <p:cNvSpPr txBox="1">
            <a:spLocks/>
          </p:cNvSpPr>
          <p:nvPr userDrawn="1"/>
        </p:nvSpPr>
        <p:spPr>
          <a:xfrm>
            <a:off x="457200" y="365125"/>
            <a:ext cx="1378496" cy="1378497"/>
          </a:xfrm>
          <a:prstGeom prst="rect">
            <a:avLst/>
          </a:prstGeom>
        </p:spPr>
        <p:txBody>
          <a:bodyPr/>
          <a:lstStyle>
            <a:lvl1pPr marL="0" indent="0" algn="l" rtl="0" eaLnBrk="1" latinLnBrk="1" hangingPunct="1">
              <a:spcBef>
                <a:spcPct val="20000"/>
              </a:spcBef>
              <a:buClr>
                <a:srgbClr val="374971"/>
              </a:buClr>
              <a:buSzPct val="95000"/>
              <a:buFont typeface="Wingdings" panose="05000000000000000000" pitchFamily="2" charset="2"/>
              <a:buNone/>
              <a:defRPr kumimoji="0" sz="18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a:lstStyle>
          <a:p>
            <a:endParaRPr lang="pl-PL" dirty="0"/>
          </a:p>
        </p:txBody>
      </p:sp>
      <p:sp>
        <p:nvSpPr>
          <p:cNvPr id="19" name="Title Placeholder 3"/>
          <p:cNvSpPr txBox="1">
            <a:spLocks/>
          </p:cNvSpPr>
          <p:nvPr userDrawn="1"/>
        </p:nvSpPr>
        <p:spPr>
          <a:xfrm>
            <a:off x="457200" y="365125"/>
            <a:ext cx="8229600"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endParaRPr lang="pl-PL"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808" y="188640"/>
            <a:ext cx="720000" cy="720000"/>
          </a:xfrm>
          <a:prstGeom prst="rect">
            <a:avLst/>
          </a:prstGeom>
        </p:spPr>
      </p:pic>
      <p:cxnSp>
        <p:nvCxnSpPr>
          <p:cNvPr id="9" name="Straight Connector 28">
            <a:extLst>
              <a:ext uri="{FF2B5EF4-FFF2-40B4-BE49-F238E27FC236}">
                <a16:creationId xmlns:a16="http://schemas.microsoft.com/office/drawing/2014/main" id="{E89D5A4C-7710-41A3-A521-5EF56C1D09CC}"/>
              </a:ext>
            </a:extLst>
          </p:cNvPr>
          <p:cNvCxnSpPr>
            <a:cxnSpLocks/>
          </p:cNvCxnSpPr>
          <p:nvPr userDrawn="1"/>
        </p:nvCxnSpPr>
        <p:spPr>
          <a:xfrm>
            <a:off x="457200" y="980728"/>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4538034"/>
      </p:ext>
    </p:extLst>
  </p:cSld>
  <p:clrMap bg1="lt1" tx1="dk1" bg2="lt2" tx2="dk2" accent1="accent1" accent2="accent2" accent3="accent3" accent4="accent4" accent5="accent5" accent6="accent6" hlink="hlink" folHlink="folHlink"/>
  <p:sldLayoutIdLst>
    <p:sldLayoutId id="2147483788" r:id="rId1"/>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spcAft>
          <a:spcPts val="600"/>
        </a:spcAft>
        <a:buClr>
          <a:srgbClr val="374971"/>
        </a:buClr>
        <a:buSzPct val="95000"/>
        <a:buFont typeface="Wingdings" panose="05000000000000000000" pitchFamily="2" charset="2"/>
        <a:buChar char="§"/>
        <a:defRPr kumimoji="0" sz="1800" kern="1200">
          <a:solidFill>
            <a:schemeClr val="tx1"/>
          </a:solidFill>
          <a:latin typeface="+mn-lt"/>
          <a:ea typeface="+mn-ea"/>
          <a:cs typeface="+mn-cs"/>
        </a:defRPr>
      </a:lvl1pPr>
      <a:lvl2pPr marL="640080" indent="-246888" algn="l" rtl="0" eaLnBrk="1" latinLnBrk="0" hangingPunct="1">
        <a:spcBef>
          <a:spcPct val="20000"/>
        </a:spcBef>
        <a:spcAft>
          <a:spcPts val="600"/>
        </a:spcAft>
        <a:buClr>
          <a:schemeClr val="accent1"/>
        </a:buClr>
        <a:buSzPct val="85000"/>
        <a:buFont typeface="Wingdings 2"/>
        <a:buChar char=""/>
        <a:defRPr kumimoji="0" sz="1800" kern="1200">
          <a:solidFill>
            <a:schemeClr val="tx1"/>
          </a:solidFill>
          <a:latin typeface="+mn-lt"/>
          <a:ea typeface="+mn-ea"/>
          <a:cs typeface="+mn-cs"/>
        </a:defRPr>
      </a:lvl2pPr>
      <a:lvl3pPr marL="914400" indent="-246888" algn="l" rtl="0" eaLnBrk="1" latinLnBrk="0" hangingPunct="1">
        <a:spcBef>
          <a:spcPct val="20000"/>
        </a:spcBef>
        <a:spcAft>
          <a:spcPts val="600"/>
        </a:spcAft>
        <a:buClr>
          <a:schemeClr val="accent2"/>
        </a:buClr>
        <a:buSzPct val="70000"/>
        <a:buFont typeface="Wingdings 2"/>
        <a:buChar char=""/>
        <a:defRPr kumimoji="0" sz="1800" kern="1200">
          <a:solidFill>
            <a:schemeClr val="tx1"/>
          </a:solidFill>
          <a:latin typeface="+mn-lt"/>
          <a:ea typeface="+mn-ea"/>
          <a:cs typeface="+mn-cs"/>
        </a:defRPr>
      </a:lvl3pPr>
      <a:lvl4pPr marL="1188720" indent="-210312" algn="l" rtl="0" eaLnBrk="1" latinLnBrk="0" hangingPunct="1">
        <a:spcBef>
          <a:spcPct val="20000"/>
        </a:spcBef>
        <a:spcAft>
          <a:spcPts val="600"/>
        </a:spcAft>
        <a:buClr>
          <a:schemeClr val="accent3"/>
        </a:buClr>
        <a:buSzPct val="65000"/>
        <a:buFont typeface="Wingdings 2"/>
        <a:buChar char=""/>
        <a:defRPr kumimoji="0" sz="1800" kern="1200">
          <a:solidFill>
            <a:schemeClr val="tx1"/>
          </a:solidFill>
          <a:latin typeface="+mn-lt"/>
          <a:ea typeface="+mn-ea"/>
          <a:cs typeface="+mn-cs"/>
        </a:defRPr>
      </a:lvl4pPr>
      <a:lvl5pPr marL="1463040" indent="-210312" algn="l" rtl="0" eaLnBrk="1" latinLnBrk="0" hangingPunct="1">
        <a:spcBef>
          <a:spcPct val="20000"/>
        </a:spcBef>
        <a:spcAft>
          <a:spcPts val="600"/>
        </a:spcAft>
        <a:buClr>
          <a:schemeClr val="accent4"/>
        </a:buClr>
        <a:buSzPct val="65000"/>
        <a:buFont typeface="Wingdings 2"/>
        <a:buChar char=""/>
        <a:defRPr kumimoji="0" sz="1800" kern="1200">
          <a:solidFill>
            <a:schemeClr val="tx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 name="Rectangle 27"/>
          <p:cNvSpPr/>
          <p:nvPr userDrawn="1"/>
        </p:nvSpPr>
        <p:spPr>
          <a:xfrm>
            <a:off x="0" y="0"/>
            <a:ext cx="9144000" cy="6858000"/>
          </a:xfrm>
          <a:prstGeom prst="rect">
            <a:avLst/>
          </a:prstGeom>
          <a:solidFill>
            <a:srgbClr val="374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Tree>
    <p:extLst>
      <p:ext uri="{BB962C8B-B14F-4D97-AF65-F5344CB8AC3E}">
        <p14:creationId xmlns:p14="http://schemas.microsoft.com/office/powerpoint/2010/main" val="4160527176"/>
      </p:ext>
    </p:extLst>
  </p:cSld>
  <p:clrMap bg1="lt1" tx1="dk1" bg2="lt2" tx2="dk2" accent1="accent1" accent2="accent2" accent3="accent3" accent4="accent4" accent5="accent5" accent6="accent6" hlink="hlink" folHlink="folHlink"/>
  <p:sldLayoutIdLst>
    <p:sldLayoutId id="2147483778" r:id="rId1"/>
  </p:sldLayoutIdLst>
  <p:hf hdr="0" dt="0"/>
  <p:txStyles>
    <p:titleStyle>
      <a:lvl1pPr algn="r" rtl="0" eaLnBrk="1" latinLnBrk="1" hangingPunct="1">
        <a:spcBef>
          <a:spcPct val="0"/>
        </a:spcBef>
        <a:buNone/>
        <a:defRPr kumimoji="0" sz="2800" b="0" kern="1200">
          <a:ln>
            <a:noFill/>
          </a:ln>
          <a:solidFill>
            <a:srgbClr val="374971"/>
          </a:solidFill>
          <a:effectLst/>
          <a:latin typeface="+mj-lt"/>
          <a:ea typeface="+mj-ea"/>
          <a:cs typeface="+mj-cs"/>
        </a:defRPr>
      </a:lvl1pPr>
    </p:titleStyle>
    <p:bodyStyle>
      <a:lvl1pPr marL="285750" indent="-285750" algn="l" rtl="0" eaLnBrk="1" latinLnBrk="1" hangingPunct="1">
        <a:spcBef>
          <a:spcPct val="20000"/>
        </a:spcBef>
        <a:buClr>
          <a:srgbClr val="374971"/>
        </a:buClr>
        <a:buSzPct val="95000"/>
        <a:buFont typeface="Wingdings" panose="05000000000000000000" pitchFamily="2" charset="2"/>
        <a:buChar char="§"/>
        <a:defRPr kumimoji="0" sz="6000" b="1" kern="1200" baseline="0">
          <a:solidFill>
            <a:schemeClr val="bg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1800" kern="1200">
          <a:solidFill>
            <a:schemeClr val="bg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1800" kern="1200">
          <a:solidFill>
            <a:schemeClr val="bg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1800" kern="1200">
          <a:solidFill>
            <a:schemeClr val="bg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1800" kern="1200">
          <a:solidFill>
            <a:schemeClr val="bg1"/>
          </a:solidFill>
          <a:latin typeface="+mn-lt"/>
          <a:ea typeface="+mn-ea"/>
          <a:cs typeface="+mn-cs"/>
        </a:defRPr>
      </a:lvl5pPr>
      <a:lvl6pPr marL="1737360" indent="-210312" algn="l" rtl="0" eaLnBrk="1" latinLnBrk="1"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1"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1"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1"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pPr latinLnBrk="0" eaLnBrk="1"/>
            <a:r>
              <a:rPr>
                <a:solidFill>
                  <a:srgbClr val="FFFFFF"/>
                </a:solidFill>
              </a:rPr>
              <a:t>CCPlayTV</a:t>
            </a:r>
          </a:p>
        </p:txBody>
      </p:sp>
      <p:sp>
        <p:nvSpPr>
          <p:cNvPr id="7" name="Text Placeholder 6"/>
          <p:cNvSpPr>
            <a:spLocks noGrp="1"/>
          </p:cNvSpPr>
          <p:nvPr>
            <p:ph type="body" sz="quarter" idx="11"/>
          </p:nvPr>
        </p:nvSpPr>
        <p:spPr/>
        <p:txBody>
          <a:bodyPr/>
          <a:lstStyle/>
          <a:p>
            <a:pPr latinLnBrk="0" eaLnBrk="1"/>
            <a:r>
              <a:rPr sz="2200">
                <a:solidFill>
                  <a:srgbClr val="FFFFFF"/>
                </a:solidFill>
              </a:rPr>
              <a:t>Application UI Description</a:t>
            </a:r>
          </a:p>
          <a:p>
            <a:pPr latinLnBrk="0" eaLnBrk="1"/>
            <a:r>
              <a:rPr sz="2200">
                <a:solidFill>
                  <a:srgbClr val="FFFFFF"/>
                </a:solidFill>
              </a:rPr>
              <a:t>Version 0.2.1 · Samsung Smart TV (Tizen)</a:t>
            </a:r>
          </a:p>
        </p:txBody>
      </p:sp>
    </p:spTree>
    <p:extLst>
      <p:ext uri="{BB962C8B-B14F-4D97-AF65-F5344CB8AC3E}">
        <p14:creationId xmlns:p14="http://schemas.microsoft.com/office/powerpoint/2010/main" val="242787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Revision History</a:t>
            </a:r>
            <a:endParaRPr lang="ko-KR" altLang="en-US" dirty="0"/>
          </a:p>
        </p:txBody>
      </p:sp>
      <p:sp>
        <p:nvSpPr>
          <p:cNvPr id="3" name="Slide Number Placeholder 2"/>
          <p:cNvSpPr>
            <a:spLocks noGrp="1"/>
          </p:cNvSpPr>
          <p:nvPr>
            <p:ph type="sldNum" sz="quarter" idx="4"/>
          </p:nvPr>
        </p:nvSpPr>
        <p:spPr/>
        <p:txBody>
          <a:bodyPr/>
          <a:lstStyle/>
          <a:p>
            <a:fld id="{42AF35AD-09C2-4EBD-8934-72FD947EF48F}" type="slidenum">
              <a:rPr lang="pl-PL" smtClean="0"/>
              <a:pPr/>
              <a:t>3</a:t>
            </a:fld>
            <a:endParaRPr lang="pl-PL" dirty="0"/>
          </a:p>
        </p:txBody>
      </p:sp>
      <p:graphicFrame>
        <p:nvGraphicFramePr>
          <p:cNvPr id="8" name="Table 7"/>
          <p:cNvGraphicFramePr>
            <a:graphicFrameLocks noGrp="1"/>
          </p:cNvGraphicFramePr>
          <p:nvPr>
            <p:extLst>
              <p:ext uri="{D42A27DB-BD31-4B8C-83A1-F6EECF244321}">
                <p14:modId xmlns:p14="http://schemas.microsoft.com/office/powerpoint/2010/main" val="2065217924"/>
              </p:ext>
            </p:extLst>
          </p:nvPr>
        </p:nvGraphicFramePr>
        <p:xfrm>
          <a:off x="457200" y="1935163"/>
          <a:ext cx="8229600" cy="148336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70840">
                <a:tc>
                  <a:txBody>
                    <a:bodyPr/>
                    <a:lstStyle/>
                    <a:p>
                      <a:pPr latinLnBrk="0" eaLnBrk="1"/>
                      <a:r>
                        <a:rPr sz="1100" b="1">
                          <a:solidFill>
                            <a:srgbClr val="FFFFFF"/>
                          </a:solidFill>
                          <a:latin typeface="Arial"/>
                        </a:rPr>
                        <a:t>Version</a:t>
                      </a:r>
                      <a:endParaRPr lang="ko-KR" altLang="en-US" sz="1400" dirty="0"/>
                    </a:p>
                  </a:txBody>
                  <a:tcPr marL="108000" anchor="ctr"/>
                </a:tc>
                <a:tc>
                  <a:txBody>
                    <a:bodyPr/>
                    <a:lstStyle/>
                    <a:p>
                      <a:pPr latinLnBrk="0" eaLnBrk="1"/>
                      <a:r>
                        <a:rPr sz="1100" b="1">
                          <a:solidFill>
                            <a:srgbClr val="FFFFFF"/>
                          </a:solidFill>
                          <a:latin typeface="Arial"/>
                        </a:rPr>
                        <a:t>Date</a:t>
                      </a:r>
                      <a:endParaRPr lang="ko-KR" altLang="en-US" sz="1400" dirty="0"/>
                    </a:p>
                  </a:txBody>
                  <a:tcPr marL="108000" anchor="ctr"/>
                </a:tc>
                <a:tc>
                  <a:txBody>
                    <a:bodyPr/>
                    <a:lstStyle/>
                    <a:p>
                      <a:pPr latinLnBrk="0" eaLnBrk="1"/>
                      <a:r>
                        <a:rPr sz="1100" b="1">
                          <a:solidFill>
                            <a:srgbClr val="FFFFFF"/>
                          </a:solidFill>
                          <a:latin typeface="Arial"/>
                        </a:rPr>
                        <a:t>Description</a:t>
                      </a:r>
                      <a:endParaRPr lang="ko-KR" altLang="en-US" sz="1400" dirty="0"/>
                    </a:p>
                  </a:txBody>
                  <a:tcPr marL="108000" anchor="ctr"/>
                </a:tc>
                <a:tc>
                  <a:txBody>
                    <a:bodyPr/>
                    <a:lstStyle/>
                    <a:p>
                      <a:pPr latinLnBrk="0" eaLnBrk="1"/>
                      <a:r>
                        <a:rPr sz="1100" b="1">
                          <a:solidFill>
                            <a:srgbClr val="FFFFFF"/>
                          </a:solidFill>
                          <a:latin typeface="Arial"/>
                        </a:rPr>
                        <a:t>Author</a:t>
                      </a:r>
                      <a:endParaRPr lang="ko-KR" altLang="en-US" sz="1400" dirty="0"/>
                    </a:p>
                  </a:txBody>
                  <a:tcPr marL="108000" anchor="ctr"/>
                </a:tc>
                <a:tc>
                  <a:txBody>
                    <a:bodyPr/>
                    <a:lstStyle/>
                    <a:p>
                      <a:pPr latinLnBrk="0" eaLnBrk="1"/>
                      <a:r>
                        <a:rPr sz="1100" b="1">
                          <a:solidFill>
                            <a:srgbClr val="FFFFFF"/>
                          </a:solidFill>
                          <a:latin typeface="Arial"/>
                        </a:rPr>
                        <a:t>Related App Version</a:t>
                      </a:r>
                      <a:endParaRPr lang="ko-KR" altLang="en-US" sz="1400" dirty="0"/>
                    </a:p>
                  </a:txBody>
                  <a:tcPr marL="108000" anchor="ctr"/>
                </a:tc>
                <a:extLst>
                  <a:ext uri="{0D108BD9-81ED-4DB2-BD59-A6C34878D82A}">
                    <a16:rowId xmlns:a16="http://schemas.microsoft.com/office/drawing/2014/main" val="10000"/>
                  </a:ext>
                </a:extLst>
              </a:tr>
              <a:tr h="370840">
                <a:tc>
                  <a:txBody>
                    <a:bodyPr/>
                    <a:lstStyle/>
                    <a:p>
                      <a:pPr latinLnBrk="0" eaLnBrk="1"/>
                      <a:r>
                        <a:rPr sz="1000" b="0">
                          <a:solidFill>
                            <a:srgbClr val="262626"/>
                          </a:solidFill>
                          <a:latin typeface="Arial"/>
                        </a:rPr>
                        <a:t>1.0</a:t>
                      </a:r>
                      <a:endParaRPr lang="ko-KR" altLang="en-US" sz="1400" i="0" dirty="0">
                        <a:solidFill>
                          <a:srgbClr val="94C46F"/>
                        </a:solidFill>
                      </a:endParaRPr>
                    </a:p>
                  </a:txBody>
                  <a:tcPr marL="108000" anchor="ctr"/>
                </a:tc>
                <a:tc>
                  <a:txBody>
                    <a:bodyPr/>
                    <a:lstStyle/>
                    <a:p>
                      <a:pPr latinLnBrk="0" eaLnBrk="1"/>
                      <a:r>
                        <a:rPr sz="1000" b="0">
                          <a:solidFill>
                            <a:srgbClr val="262626"/>
                          </a:solidFill>
                          <a:latin typeface="Arial"/>
                        </a:rPr>
                        <a:t>2026.10.17</a:t>
                      </a:r>
                      <a:endParaRPr lang="ko-KR" altLang="en-US" sz="1400" i="0" dirty="0">
                        <a:solidFill>
                          <a:srgbClr val="94C46F"/>
                        </a:solidFill>
                      </a:endParaRPr>
                    </a:p>
                  </a:txBody>
                  <a:tcPr marL="108000" anchor="ctr"/>
                </a:tc>
                <a:tc>
                  <a:txBody>
                    <a:bodyPr/>
                    <a:lstStyle/>
                    <a:p>
                      <a:pPr marL="0" indent="0" latinLnBrk="0" eaLnBrk="1">
                        <a:buFont typeface="Arial" pitchFamily="34" charset="0"/>
                        <a:buNone/>
                      </a:pPr>
                      <a:r>
                        <a:rPr sz="1000" b="0">
                          <a:solidFill>
                            <a:srgbClr val="262626"/>
                          </a:solidFill>
                          <a:latin typeface="Arial"/>
                        </a:rPr>
                        <a:t>First UI description (first submission, commercial version)</a:t>
                      </a:r>
                    </a:p>
                  </a:txBody>
                  <a:tcPr marL="108000" anchor="ctr"/>
                </a:tc>
                <a:tc>
                  <a:txBody>
                    <a:bodyPr/>
                    <a:lstStyle/>
                    <a:p>
                      <a:pPr latinLnBrk="0" eaLnBrk="1">
                        <a:buFont typeface="Arial" pitchFamily="34" charset="0"/>
                        <a:buNone/>
                      </a:pPr>
                      <a:r>
                        <a:rPr sz="1000" b="0">
                          <a:solidFill>
                            <a:srgbClr val="262626"/>
                          </a:solidFill>
                          <a:latin typeface="Arial"/>
                        </a:rPr>
                        <a:t>John Costa</a:t>
                      </a:r>
                      <a:endParaRPr lang="en-US" altLang="ko-KR" sz="1400" i="0" dirty="0">
                        <a:solidFill>
                          <a:srgbClr val="94C46F"/>
                        </a:solidFill>
                      </a:endParaRPr>
                    </a:p>
                  </a:txBody>
                  <a:tcPr marL="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000" b="0">
                          <a:solidFill>
                            <a:srgbClr val="262626"/>
                          </a:solidFill>
                          <a:latin typeface="Arial"/>
                        </a:rPr>
                        <a:t>0.2.1</a:t>
                      </a:r>
                      <a:endParaRPr lang="ko-KR" altLang="en-US" sz="1400" i="0" dirty="0">
                        <a:solidFill>
                          <a:srgbClr val="94C46F"/>
                        </a:solidFill>
                      </a:endParaRPr>
                    </a:p>
                  </a:txBody>
                  <a:tcPr marL="10800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Contents</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4</a:t>
            </a:fld>
            <a:endParaRPr lang="pl-PL" dirty="0"/>
          </a:p>
        </p:txBody>
      </p:sp>
      <p:sp>
        <p:nvSpPr>
          <p:cNvPr id="15" name="Rectangle 6"/>
          <p:cNvSpPr txBox="1">
            <a:spLocks noChangeArrowheads="1"/>
          </p:cNvSpPr>
          <p:nvPr/>
        </p:nvSpPr>
        <p:spPr bwMode="auto">
          <a:xfrm>
            <a:off x="527051" y="2501900"/>
            <a:ext cx="6997278" cy="402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0" fontAlgn="base" hangingPunct="0">
              <a:lnSpc>
                <a:spcPct val="120000"/>
              </a:lnSpc>
              <a:spcBef>
                <a:spcPct val="0"/>
              </a:spcBef>
              <a:spcAft>
                <a:spcPct val="0"/>
              </a:spcAft>
              <a:buClr>
                <a:schemeClr val="tx1"/>
              </a:buClr>
              <a:buFont typeface="Symbol" pitchFamily="18" charset="2"/>
              <a:buNone/>
              <a:defRPr sz="1400" cap="none" baseline="0">
                <a:solidFill>
                  <a:srgbClr val="BFBFBF"/>
                </a:solidFill>
                <a:latin typeface="+mn-lt"/>
                <a:ea typeface="+mn-ea"/>
                <a:cs typeface="+mn-cs"/>
              </a:defRPr>
            </a:lvl1pPr>
            <a:lvl2pPr marL="179388" indent="0" algn="l" rtl="0" eaLnBrk="0" fontAlgn="base" hangingPunct="0">
              <a:lnSpc>
                <a:spcPct val="120000"/>
              </a:lnSpc>
              <a:spcBef>
                <a:spcPct val="0"/>
              </a:spcBef>
              <a:spcAft>
                <a:spcPct val="0"/>
              </a:spcAft>
              <a:buClr>
                <a:schemeClr val="tx1"/>
              </a:buClr>
              <a:buFont typeface="Symbol" charset="0"/>
              <a:buNone/>
              <a:defRPr sz="1600">
                <a:solidFill>
                  <a:schemeClr val="tx1"/>
                </a:solidFill>
                <a:latin typeface="+mn-lt"/>
                <a:ea typeface="Arial" charset="0"/>
                <a:cs typeface="+mn-cs"/>
              </a:defRPr>
            </a:lvl2pPr>
            <a:lvl3pPr marL="355600" indent="0" algn="l" rtl="0" eaLnBrk="0" fontAlgn="base" hangingPunct="0">
              <a:lnSpc>
                <a:spcPct val="120000"/>
              </a:lnSpc>
              <a:spcBef>
                <a:spcPct val="0"/>
              </a:spcBef>
              <a:spcAft>
                <a:spcPct val="0"/>
              </a:spcAft>
              <a:buClr>
                <a:schemeClr val="tx1"/>
              </a:buClr>
              <a:buFont typeface="Symbol" pitchFamily="18" charset="2"/>
              <a:buNone/>
              <a:defRPr sz="1600">
                <a:solidFill>
                  <a:schemeClr val="tx1"/>
                </a:solidFill>
                <a:latin typeface="+mn-lt"/>
                <a:ea typeface="Arial" charset="0"/>
                <a:cs typeface="+mn-cs"/>
              </a:defRPr>
            </a:lvl3pPr>
            <a:lvl4pPr marL="542925" indent="-18891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4pPr>
            <a:lvl5pPr marL="714375" indent="-16986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5pPr>
            <a:lvl6pPr marL="893763" indent="-179388" algn="l" rtl="0" eaLnBrk="1" fontAlgn="base" hangingPunct="1">
              <a:lnSpc>
                <a:spcPct val="105000"/>
              </a:lnSpc>
              <a:spcBef>
                <a:spcPct val="0"/>
              </a:spcBef>
              <a:spcAft>
                <a:spcPct val="0"/>
              </a:spcAft>
              <a:buClr>
                <a:schemeClr val="tx1"/>
              </a:buClr>
              <a:buFont typeface="Symbol" pitchFamily="18" charset="2"/>
              <a:buChar char="-"/>
              <a:defRPr sz="1600">
                <a:solidFill>
                  <a:schemeClr val="tx1"/>
                </a:solidFill>
                <a:latin typeface="+mn-lt"/>
                <a:ea typeface="Arial" charset="0"/>
                <a:cs typeface="+mn-cs"/>
              </a:defRPr>
            </a:lvl6pPr>
            <a:lvl7pPr marL="16287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7pPr>
            <a:lvl8pPr marL="20859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8pPr>
            <a:lvl9pPr marL="25431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9pPr>
          </a:lstStyle>
          <a:p>
            <a:pPr lvl="0" latinLnBrk="0">
              <a:buClr>
                <a:srgbClr val="000000"/>
              </a:buClr>
              <a:defRPr/>
            </a:pPr>
            <a:r>
              <a:rPr lang="en-US" b="1" kern="0" dirty="0">
                <a:solidFill>
                  <a:srgbClr val="374971"/>
                </a:solidFill>
                <a:cs typeface="Arial"/>
              </a:rPr>
              <a:t>UI Structure</a:t>
            </a:r>
            <a:endParaRPr lang="pl-PL" b="1" kern="0" dirty="0">
              <a:solidFill>
                <a:srgbClr val="374971"/>
              </a:solidFill>
              <a:cs typeface="Arial"/>
            </a:endParaRPr>
          </a:p>
          <a:p>
            <a:pPr lvl="0" latinLnBrk="0">
              <a:buClr>
                <a:srgbClr val="000000"/>
              </a:buClr>
              <a:defRPr/>
            </a:pPr>
            <a:r>
              <a:rPr lang="en-US" kern="0" dirty="0">
                <a:solidFill>
                  <a:srgbClr val="FFFFFF">
                    <a:lumMod val="75000"/>
                  </a:srgbClr>
                </a:solidFill>
                <a:cs typeface="Arial"/>
              </a:rPr>
              <a:t>Use Cases</a:t>
            </a:r>
            <a:endParaRPr lang="pl-PL" kern="0" dirty="0">
              <a:solidFill>
                <a:srgbClr val="FFFFFF">
                  <a:lumMod val="75000"/>
                </a:srgbClr>
              </a:solidFill>
              <a:cs typeface="Arial"/>
            </a:endParaRPr>
          </a:p>
          <a:p>
            <a:pPr lvl="0" latinLnBrk="0">
              <a:buClr>
                <a:srgbClr val="000000"/>
              </a:buClr>
              <a:defRPr/>
            </a:pPr>
            <a:r>
              <a:rPr lang="en-US" kern="0" dirty="0">
                <a:cs typeface="Arial"/>
              </a:rPr>
              <a:t>Menus and Functions</a:t>
            </a:r>
            <a:endParaRPr lang="pl-PL" kern="0" dirty="0">
              <a:cs typeface="Arial"/>
            </a:endParaRPr>
          </a:p>
          <a:p>
            <a:pPr lvl="0" latinLnBrk="0">
              <a:buClr>
                <a:srgbClr val="000000"/>
              </a:buClr>
              <a:defRPr/>
            </a:pPr>
            <a:r>
              <a:rPr lang="en-US" kern="0" dirty="0">
                <a:cs typeface="Arial"/>
              </a:rPr>
              <a:t>Remote Control Keys</a:t>
            </a:r>
            <a:endParaRPr lang="pl-PL" kern="0" dirty="0">
              <a:cs typeface="Arial"/>
            </a:endParaRPr>
          </a:p>
          <a:p>
            <a:pPr lvl="0" latinLnBrk="0">
              <a:buClr>
                <a:srgbClr val="000000"/>
              </a:buClr>
              <a:defRPr/>
            </a:pPr>
            <a:r>
              <a:rPr lang="en-US" kern="0" dirty="0">
                <a:cs typeface="Arial"/>
              </a:rPr>
              <a:t>Language Options</a:t>
            </a: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p:txBody>
      </p:sp>
      <p:grpSp>
        <p:nvGrpSpPr>
          <p:cNvPr id="16" name="Grupp 3"/>
          <p:cNvGrpSpPr>
            <a:grpSpLocks/>
          </p:cNvGrpSpPr>
          <p:nvPr/>
        </p:nvGrpSpPr>
        <p:grpSpPr bwMode="auto">
          <a:xfrm>
            <a:off x="0" y="2479675"/>
            <a:ext cx="331788" cy="323850"/>
            <a:chOff x="3044126" y="1710821"/>
            <a:chExt cx="331004" cy="547536"/>
          </a:xfrm>
        </p:grpSpPr>
        <p:sp>
          <p:nvSpPr>
            <p:cNvPr id="17" name="Rektangel med rundade hörn 4"/>
            <p:cNvSpPr/>
            <p:nvPr/>
          </p:nvSpPr>
          <p:spPr>
            <a:xfrm>
              <a:off x="3044126" y="1710821"/>
              <a:ext cx="221725" cy="544853"/>
            </a:xfrm>
            <a:prstGeom prst="roundRect">
              <a:avLst>
                <a:gd name="adj" fmla="val 0"/>
              </a:avLst>
            </a:prstGeom>
            <a:gradFill flip="none" rotWithShape="1">
              <a:gsLst>
                <a:gs pos="0">
                  <a:srgbClr val="2B3957"/>
                </a:gs>
                <a:gs pos="79000">
                  <a:srgbClr val="516BA5"/>
                </a:gs>
              </a:gsLst>
              <a:lin ang="0" scaled="1"/>
              <a:tileRect/>
            </a:gradFill>
            <a:ln w="12700" cap="flat" cmpd="sng" algn="ctr">
              <a:noFill/>
              <a:prstDash val="solid"/>
            </a:ln>
            <a:effectLst/>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000" b="0" i="0" u="none" strike="noStrike" kern="0" cap="none" spc="0" normalizeH="0" baseline="0" noProof="0" dirty="0">
                <a:ln>
                  <a:noFill/>
                </a:ln>
                <a:solidFill>
                  <a:srgbClr val="FFFFFF"/>
                </a:solidFill>
                <a:effectLst/>
                <a:uLnTx/>
                <a:uFillTx/>
                <a:latin typeface="Helvetica Neue"/>
                <a:cs typeface="Helvetica Neue"/>
              </a:endParaRPr>
            </a:p>
          </p:txBody>
        </p:sp>
        <p:sp>
          <p:nvSpPr>
            <p:cNvPr id="18" name="Likbent triangel 5"/>
            <p:cNvSpPr/>
            <p:nvPr/>
          </p:nvSpPr>
          <p:spPr>
            <a:xfrm rot="5400000">
              <a:off x="3045931" y="1929157"/>
              <a:ext cx="547536" cy="110862"/>
            </a:xfrm>
            <a:prstGeom prst="triangle">
              <a:avLst/>
            </a:prstGeom>
            <a:solidFill>
              <a:srgbClr val="516BA5"/>
            </a:solidFill>
            <a:ln w="9525"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500" b="0" i="0" u="none" strike="noStrike" kern="0" cap="none" spc="0" normalizeH="0" baseline="0" noProof="0">
                <a:ln>
                  <a:noFill/>
                </a:ln>
                <a:solidFill>
                  <a:srgbClr val="FFFFFF"/>
                </a:solidFill>
                <a:effectLst/>
                <a:uLnTx/>
                <a:uFillTx/>
                <a:latin typeface="Arial"/>
                <a:cs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UI Structure</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6</a:t>
            </a:fld>
            <a:endParaRPr lang="pl-PL" dirty="0"/>
          </a:p>
        </p:txBody>
      </p:sp>
      <p:sp>
        <p:nvSpPr>
          <p:cNvPr id="6"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Flow Graph</a:t>
            </a:r>
          </a:p>
        </p:txBody>
      </p:sp>
      <p:sp>
        <p:nvSpPr>
          <p:cNvPr id="8" name="Content Placeholder 5">
            <a:extLst>
              <a:ext uri="{FF2B5EF4-FFF2-40B4-BE49-F238E27FC236}">
                <a16:creationId xmlns:a16="http://schemas.microsoft.com/office/drawing/2014/main" id="{F9BF8AC7-9AB6-492A-9B04-1C39948D08AC}"/>
              </a:ext>
            </a:extLst>
          </p:cNvPr>
          <p:cNvSpPr>
            <a:spLocks noGrp="1"/>
          </p:cNvSpPr>
          <p:nvPr>
            <p:ph idx="1"/>
          </p:nvPr>
        </p:nvSpPr>
        <p:spPr>
          <a:xfrm>
            <a:off x="457200" y="1592629"/>
            <a:ext cx="8229600" cy="640080"/>
          </a:xfrm>
        </p:spPr>
        <p:txBody>
          <a:bodyPr/>
          <a:lstStyle/>
          <a:p>
            <a:pPr latinLnBrk="0" eaLnBrk="1"/>
            <a:r>
              <a:rPr sz="1200">
                <a:solidFill>
                  <a:srgbClr val="262626"/>
                </a:solidFill>
              </a:rPr>
              <a:t>All screens and navigation paths. RETURN always goes back one level; the list chip in the top bar goes back to the list selection.</a:t>
            </a:r>
          </a:p>
        </p:txBody>
      </p:sp>
      <p:sp>
        <p:nvSpPr>
          <p:cNvPr id="9" name="Rounded Rectangle 8"/>
          <p:cNvSpPr/>
          <p:nvPr/>
        </p:nvSpPr>
        <p:spPr>
          <a:xfrm>
            <a:off x="228600" y="3749039"/>
            <a:ext cx="1051560" cy="50292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Splash</a:t>
            </a:r>
          </a:p>
          <a:p>
            <a:pPr algn="ctr" latinLnBrk="0" eaLnBrk="1"/>
            <a:r>
              <a:rPr sz="750">
                <a:solidFill>
                  <a:srgbClr val="262626"/>
                </a:solidFill>
              </a:rPr>
              <a:t>app launch</a:t>
            </a:r>
          </a:p>
        </p:txBody>
      </p:sp>
      <p:sp>
        <p:nvSpPr>
          <p:cNvPr id="10" name="Rounded Rectangle 9"/>
          <p:cNvSpPr/>
          <p:nvPr/>
        </p:nvSpPr>
        <p:spPr>
          <a:xfrm>
            <a:off x="1554480" y="2148840"/>
            <a:ext cx="146304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Connect your playlist</a:t>
            </a:r>
          </a:p>
          <a:p>
            <a:pPr algn="ctr" latinLnBrk="0" eaLnBrk="1"/>
            <a:r>
              <a:rPr sz="750">
                <a:solidFill>
                  <a:srgbClr val="262626"/>
                </a:solidFill>
              </a:rPr>
              <a:t>On the website (QR) · Xtream Codes · M3U</a:t>
            </a:r>
          </a:p>
        </p:txBody>
      </p:sp>
      <p:sp>
        <p:nvSpPr>
          <p:cNvPr id="11" name="Rounded Rectangle 10"/>
          <p:cNvSpPr/>
          <p:nvPr/>
        </p:nvSpPr>
        <p:spPr>
          <a:xfrm>
            <a:off x="1554480" y="2926080"/>
            <a:ext cx="1463040" cy="45720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Import progress</a:t>
            </a:r>
          </a:p>
        </p:txBody>
      </p:sp>
      <p:sp>
        <p:nvSpPr>
          <p:cNvPr id="12" name="Rounded Rectangle 11"/>
          <p:cNvSpPr/>
          <p:nvPr/>
        </p:nvSpPr>
        <p:spPr>
          <a:xfrm>
            <a:off x="1554480" y="3703320"/>
            <a:ext cx="1463040" cy="59436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Select or Add your list</a:t>
            </a:r>
          </a:p>
          <a:p>
            <a:pPr algn="ctr" latinLnBrk="0" eaLnBrk="1"/>
            <a:r>
              <a:rPr sz="750">
                <a:solidFill>
                  <a:srgbClr val="262626"/>
                </a:solidFill>
              </a:rPr>
              <a:t>one card per playlist</a:t>
            </a:r>
          </a:p>
        </p:txBody>
      </p:sp>
      <p:sp>
        <p:nvSpPr>
          <p:cNvPr id="13" name="Rounded Rectangle 12"/>
          <p:cNvSpPr/>
          <p:nvPr/>
        </p:nvSpPr>
        <p:spPr>
          <a:xfrm>
            <a:off x="1554480" y="4663440"/>
            <a:ext cx="1463040" cy="45720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Exit confirmation</a:t>
            </a:r>
          </a:p>
          <a:p>
            <a:pPr algn="ctr" latinLnBrk="0" eaLnBrk="1"/>
            <a:r>
              <a:rPr sz="750">
                <a:solidFill>
                  <a:srgbClr val="262626"/>
                </a:solidFill>
              </a:rPr>
              <a:t>RETURN on the list screen</a:t>
            </a:r>
          </a:p>
        </p:txBody>
      </p:sp>
      <p:sp>
        <p:nvSpPr>
          <p:cNvPr id="14" name="Rounded Rectangle 13"/>
          <p:cNvSpPr/>
          <p:nvPr/>
        </p:nvSpPr>
        <p:spPr>
          <a:xfrm>
            <a:off x="3337560" y="2148840"/>
            <a:ext cx="1691640" cy="68580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Settings</a:t>
            </a:r>
          </a:p>
          <a:p>
            <a:pPr algn="ctr" latinLnBrk="0" eaLnBrk="1"/>
            <a:r>
              <a:rPr sz="750">
                <a:solidFill>
                  <a:srgbClr val="262626"/>
                </a:solidFill>
              </a:rPr>
              <a:t>Integrations · Playlists · Playback · Accessibility · About · Portal &amp; license · Backup</a:t>
            </a:r>
          </a:p>
        </p:txBody>
      </p:sp>
      <p:sp>
        <p:nvSpPr>
          <p:cNvPr id="15" name="Rounded Rectangle 14"/>
          <p:cNvSpPr/>
          <p:nvPr/>
        </p:nvSpPr>
        <p:spPr>
          <a:xfrm>
            <a:off x="3337560" y="3017520"/>
            <a:ext cx="169164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List actions</a:t>
            </a:r>
          </a:p>
          <a:p>
            <a:pPr algn="ctr" latinLnBrk="0" eaLnBrk="1"/>
            <a:r>
              <a:rPr sz="750">
                <a:solidFill>
                  <a:srgbClr val="262626"/>
                </a:solidFill>
              </a:rPr>
              <a:t>Resync · Edit · Delete · Configure</a:t>
            </a:r>
          </a:p>
        </p:txBody>
      </p:sp>
      <p:sp>
        <p:nvSpPr>
          <p:cNvPr id="16" name="Rounded Rectangle 15"/>
          <p:cNvSpPr/>
          <p:nvPr/>
        </p:nvSpPr>
        <p:spPr>
          <a:xfrm>
            <a:off x="3337560" y="3749039"/>
            <a:ext cx="169164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Home</a:t>
            </a:r>
          </a:p>
          <a:p>
            <a:pPr algn="ctr" latinLnBrk="0" eaLnBrk="1"/>
            <a:r>
              <a:rPr sz="750">
                <a:solidFill>
                  <a:srgbClr val="262626"/>
                </a:solidFill>
              </a:rPr>
              <a:t>top bar + rows</a:t>
            </a:r>
          </a:p>
        </p:txBody>
      </p:sp>
      <p:sp>
        <p:nvSpPr>
          <p:cNvPr id="17" name="Rounded Rectangle 16"/>
          <p:cNvSpPr/>
          <p:nvPr/>
        </p:nvSpPr>
        <p:spPr>
          <a:xfrm>
            <a:off x="5349240" y="214884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Live TV</a:t>
            </a:r>
          </a:p>
          <a:p>
            <a:pPr algn="ctr" latinLnBrk="0" eaLnBrk="1"/>
            <a:r>
              <a:rPr sz="750">
                <a:solidFill>
                  <a:srgbClr val="262626"/>
                </a:solidFill>
              </a:rPr>
              <a:t>categories → channels + guide</a:t>
            </a:r>
          </a:p>
        </p:txBody>
      </p:sp>
      <p:sp>
        <p:nvSpPr>
          <p:cNvPr id="18" name="Rounded Rectangle 17"/>
          <p:cNvSpPr/>
          <p:nvPr/>
        </p:nvSpPr>
        <p:spPr>
          <a:xfrm>
            <a:off x="5349240" y="288036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Movies</a:t>
            </a:r>
          </a:p>
          <a:p>
            <a:pPr algn="ctr" latinLnBrk="0" eaLnBrk="1"/>
            <a:r>
              <a:rPr sz="750">
                <a:solidFill>
                  <a:srgbClr val="262626"/>
                </a:solidFill>
              </a:rPr>
              <a:t>rows → category grid</a:t>
            </a:r>
          </a:p>
        </p:txBody>
      </p:sp>
      <p:sp>
        <p:nvSpPr>
          <p:cNvPr id="19" name="Rounded Rectangle 18"/>
          <p:cNvSpPr/>
          <p:nvPr/>
        </p:nvSpPr>
        <p:spPr>
          <a:xfrm>
            <a:off x="5349240" y="361188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Series</a:t>
            </a:r>
          </a:p>
          <a:p>
            <a:pPr algn="ctr" latinLnBrk="0" eaLnBrk="1"/>
            <a:r>
              <a:rPr sz="750">
                <a:solidFill>
                  <a:srgbClr val="262626"/>
                </a:solidFill>
              </a:rPr>
              <a:t>rows → category grid</a:t>
            </a:r>
          </a:p>
        </p:txBody>
      </p:sp>
      <p:sp>
        <p:nvSpPr>
          <p:cNvPr id="20" name="Rounded Rectangle 19"/>
          <p:cNvSpPr/>
          <p:nvPr/>
        </p:nvSpPr>
        <p:spPr>
          <a:xfrm>
            <a:off x="5349240" y="434340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Radio</a:t>
            </a:r>
          </a:p>
          <a:p>
            <a:pPr algn="ctr" latinLnBrk="0" eaLnBrk="1"/>
            <a:r>
              <a:rPr sz="750">
                <a:solidFill>
                  <a:srgbClr val="262626"/>
                </a:solidFill>
              </a:rPr>
              <a:t>countries → stations</a:t>
            </a:r>
          </a:p>
        </p:txBody>
      </p:sp>
      <p:sp>
        <p:nvSpPr>
          <p:cNvPr id="21" name="Rounded Rectangle 20"/>
          <p:cNvSpPr/>
          <p:nvPr/>
        </p:nvSpPr>
        <p:spPr>
          <a:xfrm>
            <a:off x="3337560" y="4526280"/>
            <a:ext cx="169164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License required</a:t>
            </a:r>
          </a:p>
          <a:p>
            <a:pPr algn="ctr" latinLnBrk="0" eaLnBrk="1"/>
            <a:r>
              <a:rPr sz="750">
                <a:solidFill>
                  <a:srgbClr val="262626"/>
                </a:solidFill>
              </a:rPr>
              <a:t>list opened after the 7-day trial</a:t>
            </a:r>
          </a:p>
        </p:txBody>
      </p:sp>
      <p:sp>
        <p:nvSpPr>
          <p:cNvPr id="22" name="Rounded Rectangle 21"/>
          <p:cNvSpPr/>
          <p:nvPr/>
        </p:nvSpPr>
        <p:spPr>
          <a:xfrm>
            <a:off x="3337560" y="5303520"/>
            <a:ext cx="1691640" cy="45720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PIN prompt</a:t>
            </a:r>
          </a:p>
          <a:p>
            <a:pPr algn="ctr" latinLnBrk="0" eaLnBrk="1"/>
            <a:r>
              <a:rPr sz="750">
                <a:solidFill>
                  <a:srgbClr val="262626"/>
                </a:solidFill>
              </a:rPr>
              <a:t>locked category (Live TV, Movies, Series)</a:t>
            </a:r>
          </a:p>
        </p:txBody>
      </p:sp>
      <p:sp>
        <p:nvSpPr>
          <p:cNvPr id="23" name="Rounded Rectangle 22"/>
          <p:cNvSpPr/>
          <p:nvPr/>
        </p:nvSpPr>
        <p:spPr>
          <a:xfrm>
            <a:off x="5349240" y="516636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Pix purchase</a:t>
            </a:r>
          </a:p>
          <a:p>
            <a:pPr algn="ctr" latinLnBrk="0" eaLnBrk="1"/>
            <a:r>
              <a:rPr sz="750">
                <a:solidFill>
                  <a:srgbClr val="262626"/>
                </a:solidFill>
              </a:rPr>
              <a:t>R$35 · 12 months · one TV</a:t>
            </a:r>
          </a:p>
        </p:txBody>
      </p:sp>
      <p:sp>
        <p:nvSpPr>
          <p:cNvPr id="24" name="Rounded Rectangle 23"/>
          <p:cNvSpPr/>
          <p:nvPr/>
        </p:nvSpPr>
        <p:spPr>
          <a:xfrm>
            <a:off x="7269480" y="214884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Live player</a:t>
            </a:r>
          </a:p>
          <a:p>
            <a:pPr algn="ctr" latinLnBrk="0" eaLnBrk="1"/>
            <a:r>
              <a:rPr sz="750">
                <a:solidFill>
                  <a:srgbClr val="262626"/>
                </a:solidFill>
              </a:rPr>
              <a:t>CH +/- switches channel</a:t>
            </a:r>
          </a:p>
        </p:txBody>
      </p:sp>
      <p:sp>
        <p:nvSpPr>
          <p:cNvPr id="25" name="Rounded Rectangle 24"/>
          <p:cNvSpPr/>
          <p:nvPr/>
        </p:nvSpPr>
        <p:spPr>
          <a:xfrm>
            <a:off x="7269480" y="288036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Movie details</a:t>
            </a:r>
          </a:p>
          <a:p>
            <a:pPr algn="ctr" latinLnBrk="0" eaLnBrk="1"/>
            <a:r>
              <a:rPr sz="750">
                <a:solidFill>
                  <a:srgbClr val="262626"/>
                </a:solidFill>
              </a:rPr>
              <a:t>Watch → full-screen player</a:t>
            </a:r>
          </a:p>
        </p:txBody>
      </p:sp>
      <p:sp>
        <p:nvSpPr>
          <p:cNvPr id="26" name="Rounded Rectangle 25"/>
          <p:cNvSpPr/>
          <p:nvPr/>
        </p:nvSpPr>
        <p:spPr>
          <a:xfrm>
            <a:off x="7269480" y="361188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Series details</a:t>
            </a:r>
          </a:p>
          <a:p>
            <a:pPr algn="ctr" latinLnBrk="0" eaLnBrk="1"/>
            <a:r>
              <a:rPr sz="750">
                <a:solidFill>
                  <a:srgbClr val="262626"/>
                </a:solidFill>
              </a:rPr>
              <a:t>season → episode → player</a:t>
            </a:r>
          </a:p>
        </p:txBody>
      </p:sp>
      <p:sp>
        <p:nvSpPr>
          <p:cNvPr id="27" name="Rounded Rectangle 26"/>
          <p:cNvSpPr/>
          <p:nvPr/>
        </p:nvSpPr>
        <p:spPr>
          <a:xfrm>
            <a:off x="7269480" y="4343400"/>
            <a:ext cx="1600200" cy="548640"/>
          </a:xfrm>
          <a:prstGeom prst="roundRect">
            <a:avLst>
              <a:gd name="adj" fmla="val 18000"/>
            </a:avLst>
          </a:prstGeom>
          <a:solidFill>
            <a:srgbClr val="DCE6F1"/>
          </a:solidFill>
          <a:ln w="12700">
            <a:solidFill>
              <a:srgbClr val="5B7B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latinLnBrk="0" eaLnBrk="1"/>
            <a:r>
              <a:rPr sz="900" b="1">
                <a:solidFill>
                  <a:srgbClr val="34497A"/>
                </a:solidFill>
              </a:rPr>
              <a:t>Now playing bar</a:t>
            </a:r>
          </a:p>
          <a:p>
            <a:pPr algn="ctr" latinLnBrk="0" eaLnBrk="1"/>
            <a:r>
              <a:rPr sz="750">
                <a:solidFill>
                  <a:srgbClr val="262626"/>
                </a:solidFill>
              </a:rPr>
              <a:t>station playing</a:t>
            </a:r>
          </a:p>
        </p:txBody>
      </p:sp>
      <p:cxnSp>
        <p:nvCxnSpPr>
          <p:cNvPr id="28" name="Connector 27"/>
          <p:cNvCxnSpPr/>
          <p:nvPr/>
        </p:nvCxnSpPr>
        <p:spPr>
          <a:xfrm>
            <a:off x="1280160" y="4000500"/>
            <a:ext cx="274320" cy="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280160" y="2423160"/>
            <a:ext cx="274320" cy="157734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286000" y="2697480"/>
            <a:ext cx="0" cy="22860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286000" y="3383280"/>
            <a:ext cx="0" cy="32004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286000" y="4297680"/>
            <a:ext cx="0" cy="36576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017520" y="2491740"/>
            <a:ext cx="320040" cy="150876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17520" y="3291839"/>
            <a:ext cx="320040" cy="708661"/>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017520" y="4000500"/>
            <a:ext cx="320040" cy="22859"/>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029200" y="2423160"/>
            <a:ext cx="320040" cy="1600199"/>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029200" y="3154680"/>
            <a:ext cx="320040" cy="868679"/>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029200" y="3886200"/>
            <a:ext cx="320040" cy="137159"/>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029200" y="4023359"/>
            <a:ext cx="320040" cy="594361"/>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949440" y="2423160"/>
            <a:ext cx="320040" cy="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949440" y="3154680"/>
            <a:ext cx="320040" cy="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949440" y="3886200"/>
            <a:ext cx="320040" cy="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949440" y="4617720"/>
            <a:ext cx="320040" cy="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017520" y="4000500"/>
            <a:ext cx="320040" cy="80010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29200" y="4800600"/>
            <a:ext cx="320040" cy="640080"/>
          </a:xfrm>
          <a:prstGeom prst="line">
            <a:avLst/>
          </a:prstGeom>
          <a:ln w="15875">
            <a:solidFill>
              <a:srgbClr val="5B7B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28600" y="5760720"/>
            <a:ext cx="8595360" cy="548640"/>
          </a:xfrm>
          <a:prstGeom prst="rect">
            <a:avLst/>
          </a:prstGeom>
          <a:noFill/>
        </p:spPr>
        <p:txBody>
          <a:bodyPr wrap="square">
            <a:spAutoFit/>
          </a:bodyPr>
          <a:lstStyle/>
          <a:p>
            <a:pPr latinLnBrk="0" eaLnBrk="1"/>
            <a:r>
              <a:rPr sz="900">
                <a:solidFill>
                  <a:srgbClr val="262626"/>
                </a:solidFill>
              </a:rPr>
              <a:t>Settings opens from the list screen or the gear in the top bar; Settings › Portal &amp; license also opens the Pix purchase. List actions appear with DOWN on a list card; a locked category asks for the PIN. The website portal.ccplaytv.com (QR code on the TV) manages lists, license and settings from a phone or PC.</a:t>
            </a:r>
          </a:p>
        </p:txBody>
      </p:sp>
    </p:spTree>
    <p:extLst>
      <p:ext uri="{BB962C8B-B14F-4D97-AF65-F5344CB8AC3E}">
        <p14:creationId xmlns:p14="http://schemas.microsoft.com/office/powerpoint/2010/main" val="4284669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Contents</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9</a:t>
            </a:fld>
            <a:endParaRPr lang="pl-PL" dirty="0"/>
          </a:p>
        </p:txBody>
      </p:sp>
      <p:sp>
        <p:nvSpPr>
          <p:cNvPr id="15" name="Rectangle 6"/>
          <p:cNvSpPr txBox="1">
            <a:spLocks noChangeArrowheads="1"/>
          </p:cNvSpPr>
          <p:nvPr/>
        </p:nvSpPr>
        <p:spPr bwMode="auto">
          <a:xfrm>
            <a:off x="527051" y="2501900"/>
            <a:ext cx="6997278" cy="402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0" fontAlgn="base" hangingPunct="0">
              <a:lnSpc>
                <a:spcPct val="120000"/>
              </a:lnSpc>
              <a:spcBef>
                <a:spcPct val="0"/>
              </a:spcBef>
              <a:spcAft>
                <a:spcPct val="0"/>
              </a:spcAft>
              <a:buClr>
                <a:schemeClr val="tx1"/>
              </a:buClr>
              <a:buFont typeface="Symbol" pitchFamily="18" charset="2"/>
              <a:buNone/>
              <a:defRPr sz="1400" cap="none" baseline="0">
                <a:solidFill>
                  <a:srgbClr val="BFBFBF"/>
                </a:solidFill>
                <a:latin typeface="+mn-lt"/>
                <a:ea typeface="+mn-ea"/>
                <a:cs typeface="+mn-cs"/>
              </a:defRPr>
            </a:lvl1pPr>
            <a:lvl2pPr marL="179388" indent="0" algn="l" rtl="0" eaLnBrk="0" fontAlgn="base" hangingPunct="0">
              <a:lnSpc>
                <a:spcPct val="120000"/>
              </a:lnSpc>
              <a:spcBef>
                <a:spcPct val="0"/>
              </a:spcBef>
              <a:spcAft>
                <a:spcPct val="0"/>
              </a:spcAft>
              <a:buClr>
                <a:schemeClr val="tx1"/>
              </a:buClr>
              <a:buFont typeface="Symbol" charset="0"/>
              <a:buNone/>
              <a:defRPr sz="1600">
                <a:solidFill>
                  <a:schemeClr val="tx1"/>
                </a:solidFill>
                <a:latin typeface="+mn-lt"/>
                <a:ea typeface="Arial" charset="0"/>
                <a:cs typeface="+mn-cs"/>
              </a:defRPr>
            </a:lvl2pPr>
            <a:lvl3pPr marL="355600" indent="0" algn="l" rtl="0" eaLnBrk="0" fontAlgn="base" hangingPunct="0">
              <a:lnSpc>
                <a:spcPct val="120000"/>
              </a:lnSpc>
              <a:spcBef>
                <a:spcPct val="0"/>
              </a:spcBef>
              <a:spcAft>
                <a:spcPct val="0"/>
              </a:spcAft>
              <a:buClr>
                <a:schemeClr val="tx1"/>
              </a:buClr>
              <a:buFont typeface="Symbol" pitchFamily="18" charset="2"/>
              <a:buNone/>
              <a:defRPr sz="1600">
                <a:solidFill>
                  <a:schemeClr val="tx1"/>
                </a:solidFill>
                <a:latin typeface="+mn-lt"/>
                <a:ea typeface="Arial" charset="0"/>
                <a:cs typeface="+mn-cs"/>
              </a:defRPr>
            </a:lvl3pPr>
            <a:lvl4pPr marL="542925" indent="-18891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4pPr>
            <a:lvl5pPr marL="714375" indent="-16986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5pPr>
            <a:lvl6pPr marL="893763" indent="-179388" algn="l" rtl="0" eaLnBrk="1" fontAlgn="base" hangingPunct="1">
              <a:lnSpc>
                <a:spcPct val="105000"/>
              </a:lnSpc>
              <a:spcBef>
                <a:spcPct val="0"/>
              </a:spcBef>
              <a:spcAft>
                <a:spcPct val="0"/>
              </a:spcAft>
              <a:buClr>
                <a:schemeClr val="tx1"/>
              </a:buClr>
              <a:buFont typeface="Symbol" pitchFamily="18" charset="2"/>
              <a:buChar char="-"/>
              <a:defRPr sz="1600">
                <a:solidFill>
                  <a:schemeClr val="tx1"/>
                </a:solidFill>
                <a:latin typeface="+mn-lt"/>
                <a:ea typeface="Arial" charset="0"/>
                <a:cs typeface="+mn-cs"/>
              </a:defRPr>
            </a:lvl6pPr>
            <a:lvl7pPr marL="16287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7pPr>
            <a:lvl8pPr marL="20859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8pPr>
            <a:lvl9pPr marL="25431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9pPr>
          </a:lstStyle>
          <a:p>
            <a:pPr lvl="0" latinLnBrk="0">
              <a:buClr>
                <a:srgbClr val="000000"/>
              </a:buClr>
              <a:defRPr/>
            </a:pPr>
            <a:r>
              <a:rPr lang="en-US" kern="0" dirty="0">
                <a:solidFill>
                  <a:schemeClr val="bg1">
                    <a:lumMod val="75000"/>
                  </a:schemeClr>
                </a:solidFill>
                <a:cs typeface="Arial"/>
              </a:rPr>
              <a:t>UI Structure</a:t>
            </a:r>
            <a:endParaRPr lang="pl-PL" kern="0" dirty="0">
              <a:solidFill>
                <a:schemeClr val="bg1">
                  <a:lumMod val="75000"/>
                </a:schemeClr>
              </a:solidFill>
              <a:cs typeface="Arial"/>
            </a:endParaRPr>
          </a:p>
          <a:p>
            <a:pPr lvl="0" latinLnBrk="0">
              <a:buClr>
                <a:srgbClr val="000000"/>
              </a:buClr>
              <a:defRPr/>
            </a:pPr>
            <a:r>
              <a:rPr lang="en-US" b="1" kern="0" dirty="0">
                <a:solidFill>
                  <a:srgbClr val="374971"/>
                </a:solidFill>
                <a:cs typeface="Arial"/>
              </a:rPr>
              <a:t>Use Cases</a:t>
            </a:r>
            <a:endParaRPr lang="pl-PL" b="1" kern="0" dirty="0">
              <a:solidFill>
                <a:srgbClr val="374971"/>
              </a:solidFill>
              <a:cs typeface="Arial"/>
            </a:endParaRPr>
          </a:p>
          <a:p>
            <a:pPr lvl="0" latinLnBrk="0">
              <a:buClr>
                <a:srgbClr val="000000"/>
              </a:buClr>
              <a:defRPr/>
            </a:pPr>
            <a:r>
              <a:rPr lang="en-US" kern="0" dirty="0">
                <a:solidFill>
                  <a:schemeClr val="bg1">
                    <a:lumMod val="75000"/>
                  </a:schemeClr>
                </a:solidFill>
                <a:cs typeface="Arial"/>
              </a:rPr>
              <a:t>Menus and Functions</a:t>
            </a:r>
            <a:endParaRPr lang="pl-PL" kern="0" dirty="0">
              <a:solidFill>
                <a:schemeClr val="bg1">
                  <a:lumMod val="75000"/>
                </a:schemeClr>
              </a:solidFill>
              <a:cs typeface="Arial"/>
            </a:endParaRPr>
          </a:p>
          <a:p>
            <a:pPr lvl="0" latinLnBrk="0">
              <a:buClr>
                <a:srgbClr val="000000"/>
              </a:buClr>
              <a:defRPr/>
            </a:pPr>
            <a:r>
              <a:rPr lang="en-US" kern="0" dirty="0">
                <a:solidFill>
                  <a:schemeClr val="bg1">
                    <a:lumMod val="75000"/>
                  </a:schemeClr>
                </a:solidFill>
                <a:cs typeface="Arial"/>
              </a:rPr>
              <a:t>Remote Control Keys</a:t>
            </a:r>
            <a:endParaRPr lang="pl-PL" kern="0" dirty="0">
              <a:solidFill>
                <a:schemeClr val="bg1">
                  <a:lumMod val="75000"/>
                </a:schemeClr>
              </a:solidFill>
              <a:cs typeface="Arial"/>
            </a:endParaRPr>
          </a:p>
          <a:p>
            <a:pPr lvl="0" latinLnBrk="0">
              <a:buClr>
                <a:srgbClr val="000000"/>
              </a:buClr>
              <a:defRPr/>
            </a:pPr>
            <a:r>
              <a:rPr lang="en-US" kern="0" dirty="0">
                <a:solidFill>
                  <a:schemeClr val="bg1">
                    <a:lumMod val="75000"/>
                  </a:schemeClr>
                </a:solidFill>
                <a:cs typeface="Arial"/>
              </a:rPr>
              <a:t>Language Options</a:t>
            </a:r>
            <a:endParaRPr kumimoji="0" lang="en-US" sz="1400" b="0" i="0" u="none" strike="noStrike" kern="0" cap="none" spc="0" normalizeH="0" baseline="0" noProof="0" dirty="0">
              <a:ln>
                <a:noFill/>
              </a:ln>
              <a:solidFill>
                <a:schemeClr val="bg1">
                  <a:lumMod val="75000"/>
                </a:schemeClr>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p:txBody>
      </p:sp>
      <p:grpSp>
        <p:nvGrpSpPr>
          <p:cNvPr id="16" name="Grupp 3"/>
          <p:cNvGrpSpPr>
            <a:grpSpLocks/>
          </p:cNvGrpSpPr>
          <p:nvPr/>
        </p:nvGrpSpPr>
        <p:grpSpPr bwMode="auto">
          <a:xfrm>
            <a:off x="0" y="2708920"/>
            <a:ext cx="331788" cy="323850"/>
            <a:chOff x="3044126" y="1710821"/>
            <a:chExt cx="331004" cy="547536"/>
          </a:xfrm>
        </p:grpSpPr>
        <p:sp>
          <p:nvSpPr>
            <p:cNvPr id="17" name="Rektangel med rundade hörn 4"/>
            <p:cNvSpPr/>
            <p:nvPr/>
          </p:nvSpPr>
          <p:spPr>
            <a:xfrm>
              <a:off x="3044126" y="1710821"/>
              <a:ext cx="221725" cy="544853"/>
            </a:xfrm>
            <a:prstGeom prst="roundRect">
              <a:avLst>
                <a:gd name="adj" fmla="val 0"/>
              </a:avLst>
            </a:prstGeom>
            <a:gradFill flip="none" rotWithShape="1">
              <a:gsLst>
                <a:gs pos="0">
                  <a:srgbClr val="2B3957"/>
                </a:gs>
                <a:gs pos="79000">
                  <a:srgbClr val="516BA5"/>
                </a:gs>
              </a:gsLst>
              <a:lin ang="0" scaled="1"/>
              <a:tileRect/>
            </a:gradFill>
            <a:ln w="12700" cap="flat" cmpd="sng" algn="ctr">
              <a:noFill/>
              <a:prstDash val="solid"/>
            </a:ln>
            <a:effectLst/>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000" b="0" i="0" u="none" strike="noStrike" kern="0" cap="none" spc="0" normalizeH="0" baseline="0" noProof="0" dirty="0">
                <a:ln>
                  <a:noFill/>
                </a:ln>
                <a:solidFill>
                  <a:srgbClr val="FFFFFF"/>
                </a:solidFill>
                <a:effectLst/>
                <a:uLnTx/>
                <a:uFillTx/>
                <a:latin typeface="Helvetica Neue"/>
                <a:cs typeface="Helvetica Neue"/>
              </a:endParaRPr>
            </a:p>
          </p:txBody>
        </p:sp>
        <p:sp>
          <p:nvSpPr>
            <p:cNvPr id="18" name="Likbent triangel 5"/>
            <p:cNvSpPr/>
            <p:nvPr/>
          </p:nvSpPr>
          <p:spPr>
            <a:xfrm rot="5400000">
              <a:off x="3045931" y="1929157"/>
              <a:ext cx="547536" cy="110862"/>
            </a:xfrm>
            <a:prstGeom prst="triangle">
              <a:avLst/>
            </a:prstGeom>
            <a:solidFill>
              <a:srgbClr val="516BA5"/>
            </a:solidFill>
            <a:ln w="9525"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500" b="0" i="0" u="none" strike="noStrike" kern="0" cap="none" spc="0" normalizeH="0" baseline="0" noProof="0">
                <a:ln>
                  <a:noFill/>
                </a:ln>
                <a:solidFill>
                  <a:srgbClr val="FFFFFF"/>
                </a:solidFill>
                <a:effectLst/>
                <a:uLnTx/>
                <a:uFillTx/>
                <a:latin typeface="Arial"/>
                <a:cs typeface="Arial"/>
              </a:endParaRPr>
            </a:p>
          </p:txBody>
        </p:sp>
      </p:grpSp>
    </p:spTree>
    <p:extLst>
      <p:ext uri="{BB962C8B-B14F-4D97-AF65-F5344CB8AC3E}">
        <p14:creationId xmlns:p14="http://schemas.microsoft.com/office/powerpoint/2010/main" val="336302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pl-PL" dirty="0"/>
              <a:t>Use Cases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10</a:t>
            </a:fld>
            <a:endParaRPr lang="pl-PL" dirty="0"/>
          </a:p>
        </p:txBody>
      </p:sp>
      <p:sp>
        <p:nvSpPr>
          <p:cNvPr id="6" name="Content Placeholder 5"/>
          <p:cNvSpPr>
            <a:spLocks noGrp="1"/>
          </p:cNvSpPr>
          <p:nvPr>
            <p:ph idx="1"/>
          </p:nvPr>
        </p:nvSpPr>
        <p:spPr/>
        <p:txBody>
          <a:bodyPr/>
          <a:lstStyle/>
          <a:p>
            <a:pPr latinLnBrk="0" eaLnBrk="1"/>
            <a:r>
              <a:rPr sz="1200">
                <a:solidFill>
                  <a:srgbClr val="262626"/>
                </a:solidFill>
              </a:rPr>
              <a:t>CCPlayTV organizes and plays the IPTV playlist (Xtream Codes or M3U) that the user already has. It does not provide or sell any content, channel or playlist.</a:t>
            </a:r>
          </a:p>
          <a:p>
            <a:pPr latinLnBrk="0" eaLnBrk="1"/>
            <a:r>
              <a:rPr sz="1200">
                <a:solidFill>
                  <a:srgbClr val="262626"/>
                </a:solidFill>
              </a:rPr>
              <a:t>No user account and no advertising. In-app purchase: a yearly license (R$35, 12 months, one TV) after a free 7-day trial, paid by Pix on the TV or by card on the website — one-time, no automatic renewal.</a:t>
            </a:r>
          </a:p>
          <a:p>
            <a:pPr latinLnBrk="0" eaLnBrk="1"/>
            <a:r>
              <a:rPr sz="1200">
                <a:solidFill>
                  <a:srgbClr val="262626"/>
                </a:solidFill>
              </a:rPr>
              <a:t>Use cases:</a:t>
            </a:r>
          </a:p>
          <a:p>
            <a:pPr lvl="1" latinLnBrk="0" eaLnBrk="1"/>
            <a:r>
              <a:rPr sz="1200">
                <a:solidFill>
                  <a:srgbClr val="262626"/>
                </a:solidFill>
              </a:rPr>
              <a:t>1. Add a Playlist (Test Account)</a:t>
            </a:r>
          </a:p>
          <a:p>
            <a:pPr lvl="1" latinLnBrk="0" eaLnBrk="1"/>
            <a:r>
              <a:rPr sz="1200">
                <a:solidFill>
                  <a:srgbClr val="262626"/>
                </a:solidFill>
              </a:rPr>
              <a:t>2. Trial and In-app Purchase</a:t>
            </a:r>
          </a:p>
          <a:p>
            <a:pPr lvl="1" latinLnBrk="0" eaLnBrk="1"/>
            <a:r>
              <a:rPr sz="1200">
                <a:solidFill>
                  <a:srgbClr val="262626"/>
                </a:solidFill>
              </a:rPr>
              <a:t>3. Web Portal (Phone or PC)</a:t>
            </a:r>
          </a:p>
          <a:p>
            <a:pPr lvl="1" latinLnBrk="0" eaLnBrk="1"/>
            <a:r>
              <a:rPr sz="1200">
                <a:solidFill>
                  <a:srgbClr val="262626"/>
                </a:solidFill>
              </a:rPr>
              <a:t>4. Watch Live TV</a:t>
            </a:r>
          </a:p>
          <a:p>
            <a:pPr lvl="1" latinLnBrk="0" eaLnBrk="1"/>
            <a:r>
              <a:rPr sz="1200">
                <a:solidFill>
                  <a:srgbClr val="262626"/>
                </a:solidFill>
              </a:rPr>
              <a:t>5. Browse and Play Movies</a:t>
            </a:r>
          </a:p>
          <a:p>
            <a:pPr lvl="1" latinLnBrk="0" eaLnBrk="1"/>
            <a:r>
              <a:rPr sz="1200">
                <a:solidFill>
                  <a:srgbClr val="262626"/>
                </a:solidFill>
              </a:rPr>
              <a:t>6. Watch a Series Episode</a:t>
            </a:r>
          </a:p>
          <a:p>
            <a:pPr lvl="1" latinLnBrk="0" eaLnBrk="1"/>
            <a:r>
              <a:rPr sz="1200">
                <a:solidFill>
                  <a:srgbClr val="262626"/>
                </a:solidFill>
              </a:rPr>
              <a:t>7. Favorites, My List and History</a:t>
            </a:r>
          </a:p>
          <a:p>
            <a:pPr lvl="1" latinLnBrk="0" eaLnBrk="1"/>
            <a:r>
              <a:rPr sz="1200">
                <a:solidFill>
                  <a:srgbClr val="262626"/>
                </a:solidFill>
              </a:rPr>
              <a:t>8. Listen to Radio</a:t>
            </a:r>
          </a:p>
          <a:p>
            <a:pPr lvl="1" latinLnBrk="0" eaLnBrk="1"/>
            <a:r>
              <a:rPr sz="1200">
                <a:solidFill>
                  <a:srgbClr val="262626"/>
                </a:solidFill>
              </a:rPr>
              <a:t>9. Manage Lists, Categories and Parental Control</a:t>
            </a:r>
          </a:p>
        </p:txBody>
      </p:sp>
    </p:spTree>
    <p:extLst>
      <p:ext uri="{BB962C8B-B14F-4D97-AF65-F5344CB8AC3E}">
        <p14:creationId xmlns:p14="http://schemas.microsoft.com/office/powerpoint/2010/main" val="1131111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t>Use Cases – Add a Playlist</a:t>
            </a:r>
          </a:p>
        </p:txBody>
      </p:sp>
      <p:sp>
        <p:nvSpPr>
          <p:cNvPr id="3" name="Slide Number Placeholder 2"/>
          <p:cNvSpPr>
            <a:spLocks noGrp="1"/>
          </p:cNvSpPr>
          <p:nvPr>
            <p:ph type="sldNum" sz="quarter" idx="4"/>
          </p:nvPr>
        </p:nvSpPr>
        <p:spPr/>
        <p:txBody>
          <a:bodyPr/>
          <a:lstStyle/>
          <a:p>
            <a:fld id="{42AF35AD-09C2-4EBD-8934-72FD947EF48F}" type="slidenum">
              <a:rPr lang="pl-PL" smtClean="0"/>
              <a:pPr/>
              <a:t>11</a:t>
            </a:fld>
            <a:endParaRPr lang="pl-PL" dirty="0"/>
          </a:p>
        </p:txBody>
      </p:sp>
      <p:sp>
        <p:nvSpPr>
          <p:cNvPr id="6" name="Content Placeholder 5"/>
          <p:cNvSpPr>
            <a:spLocks noGrp="1"/>
          </p:cNvSpPr>
          <p:nvPr>
            <p:ph idx="1"/>
          </p:nvPr>
        </p:nvSpPr>
        <p:spPr>
          <a:xfrm>
            <a:off x="457200" y="1463040"/>
            <a:ext cx="8229600" cy="3063240"/>
          </a:xfrm>
        </p:spPr>
        <p:txBody>
          <a:bodyPr/>
          <a:lstStyle/>
          <a:p>
            <a:pPr latinLnBrk="0" eaLnBrk="1"/>
            <a:r>
              <a:rPr sz="1200">
                <a:solidFill>
                  <a:srgbClr val="262626"/>
                </a:solidFill>
              </a:rPr>
              <a:t>CCPlayTV has no user account and no login of its own. The only credential is the IPTV playlist the user already has (Xtream Codes or M3U). It is typed on the TV and stays on the TV.</a:t>
            </a:r>
          </a:p>
          <a:p>
            <a:pPr latinLnBrk="0" eaLnBrk="1"/>
            <a:r>
              <a:rPr sz="1200">
                <a:solidFill>
                  <a:srgbClr val="262626"/>
                </a:solidFill>
              </a:rPr>
              <a:t>1. On first launch the app opens "Connect your playlist". Otherwise, on "Select or Add your list", select "Add list" and press OK. The form opens on the "On the website" tab (see the portal use case).</a:t>
            </a:r>
          </a:p>
          <a:p>
            <a:pPr latinLnBrk="0" eaLnBrk="1"/>
            <a:r>
              <a:rPr sz="1200">
                <a:solidFill>
                  <a:srgbClr val="262626"/>
                </a:solidFill>
              </a:rPr>
              <a:t>2. Move to "Xtream Codes" (or "M3U list") and fill in Playlist name, Host, User name and Password with the on-screen keyboard.</a:t>
            </a:r>
          </a:p>
          <a:p>
            <a:pPr latinLnBrk="0" eaLnBrk="1"/>
            <a:r>
              <a:rPr sz="1200">
                <a:solidFill>
                  <a:srgbClr val="262626"/>
                </a:solidFill>
              </a:rPr>
              <a:t>3. Select "Connect and sync". The structure of the list is imported on the TV; when it finishes, select "Back".</a:t>
            </a:r>
          </a:p>
          <a:p>
            <a:pPr latinLnBrk="0" eaLnBrk="1"/>
            <a:r>
              <a:rPr sz="1200">
                <a:solidFill>
                  <a:srgbClr val="262626"/>
                </a:solidFill>
              </a:rPr>
              <a:t>4. Select the new list card and press OK: the Home screen opens.</a:t>
            </a:r>
          </a:p>
          <a:p>
            <a:pPr latinLnBrk="0" eaLnBrk="1"/>
            <a:r>
              <a:rPr sz="1200">
                <a:solidFill>
                  <a:srgbClr val="262626"/>
                </a:solidFill>
              </a:rPr>
              <a:t>Test playlist for the review (Xtream Codes):</a:t>
            </a:r>
          </a:p>
        </p:txBody>
      </p:sp>
      <p:graphicFrame>
        <p:nvGraphicFramePr>
          <p:cNvPr id="4" name="Table 3">
            <a:extLst>
              <a:ext uri="{FF2B5EF4-FFF2-40B4-BE49-F238E27FC236}">
                <a16:creationId xmlns:a16="http://schemas.microsoft.com/office/drawing/2014/main" id="{D413A330-E7DB-4E43-8A16-EE0628831292}"/>
              </a:ext>
            </a:extLst>
          </p:cNvPr>
          <p:cNvGraphicFramePr>
            <a:graphicFrameLocks noGrp="1"/>
          </p:cNvGraphicFramePr>
          <p:nvPr>
            <p:extLst>
              <p:ext uri="{D42A27DB-BD31-4B8C-83A1-F6EECF244321}">
                <p14:modId xmlns:p14="http://schemas.microsoft.com/office/powerpoint/2010/main" val="3488950080"/>
              </p:ext>
            </p:extLst>
          </p:nvPr>
        </p:nvGraphicFramePr>
        <p:xfrm>
          <a:off x="914400" y="4617720"/>
          <a:ext cx="5303520" cy="513431"/>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3493516026"/>
                    </a:ext>
                  </a:extLst>
                </a:gridCol>
                <a:gridCol w="3840480">
                  <a:extLst>
                    <a:ext uri="{9D8B030D-6E8A-4147-A177-3AD203B41FA5}">
                      <a16:colId xmlns:a16="http://schemas.microsoft.com/office/drawing/2014/main" val="3644781736"/>
                    </a:ext>
                  </a:extLst>
                </a:gridCol>
              </a:tblGrid>
              <a:tr h="177697">
                <a:tc>
                  <a:txBody>
                    <a:bodyPr/>
                    <a:lstStyle/>
                    <a:p>
                      <a:pPr latinLnBrk="0" eaLnBrk="1"/>
                      <a:r>
                        <a:rPr sz="1000" b="1">
                          <a:solidFill>
                            <a:srgbClr val="FFFFFF"/>
                          </a:solidFill>
                          <a:latin typeface="Arial"/>
                        </a:rPr>
                        <a:t>Field</a:t>
                      </a:r>
                    </a:p>
                  </a:txBody>
                  <a:tcPr/>
                </a:tc>
                <a:tc>
                  <a:txBody>
                    <a:bodyPr/>
                    <a:lstStyle/>
                    <a:p>
                      <a:pPr latinLnBrk="0" eaLnBrk="1"/>
                      <a:r>
                        <a:rPr sz="1000" b="1">
                          <a:solidFill>
                            <a:srgbClr val="FFFFFF"/>
                          </a:solidFill>
                          <a:latin typeface="Arial"/>
                        </a:rPr>
                        <a:t>Value</a:t>
                      </a:r>
                    </a:p>
                  </a:txBody>
                  <a:tcPr/>
                </a:tc>
                <a:extLst>
                  <a:ext uri="{0D108BD9-81ED-4DB2-BD59-A6C34878D82A}">
                    <a16:rowId xmlns:a16="http://schemas.microsoft.com/office/drawing/2014/main" val="631835464"/>
                  </a:ext>
                </a:extLst>
              </a:tr>
              <a:tr h="254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000" b="0">
                          <a:solidFill>
                            <a:srgbClr val="262626"/>
                          </a:solidFill>
                          <a:latin typeface="Arial"/>
                        </a:rPr>
                        <a:t>Type</a:t>
                      </a:r>
                    </a:p>
                  </a:txBody>
                  <a:tcPr/>
                </a:tc>
                <a:tc>
                  <a:txBody>
                    <a:bodyPr/>
                    <a:lstStyle/>
                    <a:p>
                      <a:pPr latinLnBrk="0" eaLnBrk="1"/>
                      <a:r>
                        <a:rPr sz="1000" b="0">
                          <a:solidFill>
                            <a:srgbClr val="262626"/>
                          </a:solidFill>
                          <a:latin typeface="Arial"/>
                        </a:rPr>
                        <a:t>Xtream Codes</a:t>
                      </a:r>
                    </a:p>
                  </a:txBody>
                  <a:tcPr/>
                </a:tc>
                <a:extLst>
                  <a:ext uri="{0D108BD9-81ED-4DB2-BD59-A6C34878D82A}">
                    <a16:rowId xmlns:a16="http://schemas.microsoft.com/office/drawing/2014/main" val="524953750"/>
                  </a:ext>
                </a:extLst>
              </a:tr>
              <a:tr h="254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000" b="0">
                          <a:solidFill>
                            <a:srgbClr val="262626"/>
                          </a:solidFill>
                          <a:latin typeface="Arial"/>
                        </a:rPr>
                        <a:t>Host</a:t>
                      </a:r>
                    </a:p>
                  </a:txBody>
                  <a:tcPr/>
                </a:tc>
                <a:tc>
                  <a:txBody>
                    <a:bodyPr/>
                    <a:lstStyle/>
                    <a:p>
                      <a:pPr latinLnBrk="0" eaLnBrk="1"/>
                      <a:r>
                        <a:rPr sz="1000" b="0">
                          <a:solidFill>
                            <a:srgbClr val="C0392B"/>
                          </a:solidFill>
                          <a:latin typeface="Arial"/>
                        </a:rPr>
                        <a:t>&lt;TEST_HOST&gt;</a:t>
                      </a:r>
                    </a:p>
                  </a:txBody>
                  <a:tcPr/>
                </a:tc>
                <a:extLst>
                  <a:ext uri="{0D108BD9-81ED-4DB2-BD59-A6C34878D82A}">
                    <a16:rowId xmlns:a16="http://schemas.microsoft.com/office/drawing/2014/main" val="524953750"/>
                  </a:ext>
                </a:extLst>
              </a:tr>
              <a:tr h="254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000" b="0">
                          <a:solidFill>
                            <a:srgbClr val="262626"/>
                          </a:solidFill>
                          <a:latin typeface="Arial"/>
                        </a:rPr>
                        <a:t>User name</a:t>
                      </a:r>
                    </a:p>
                  </a:txBody>
                  <a:tcPr/>
                </a:tc>
                <a:tc>
                  <a:txBody>
                    <a:bodyPr/>
                    <a:lstStyle/>
                    <a:p>
                      <a:pPr latinLnBrk="0" eaLnBrk="1"/>
                      <a:r>
                        <a:rPr sz="1000" b="0">
                          <a:solidFill>
                            <a:srgbClr val="C0392B"/>
                          </a:solidFill>
                          <a:latin typeface="Arial"/>
                        </a:rPr>
                        <a:t>&lt;TEST_USERNAME&gt;</a:t>
                      </a:r>
                    </a:p>
                  </a:txBody>
                  <a:tcPr/>
                </a:tc>
                <a:extLst>
                  <a:ext uri="{0D108BD9-81ED-4DB2-BD59-A6C34878D82A}">
                    <a16:rowId xmlns:a16="http://schemas.microsoft.com/office/drawing/2014/main" val="524953750"/>
                  </a:ext>
                </a:extLst>
              </a:tr>
              <a:tr h="254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000" b="0">
                          <a:solidFill>
                            <a:srgbClr val="262626"/>
                          </a:solidFill>
                          <a:latin typeface="Arial"/>
                        </a:rPr>
                        <a:t>Password</a:t>
                      </a:r>
                    </a:p>
                  </a:txBody>
                  <a:tcPr/>
                </a:tc>
                <a:tc>
                  <a:txBody>
                    <a:bodyPr/>
                    <a:lstStyle/>
                    <a:p>
                      <a:pPr latinLnBrk="0" eaLnBrk="1"/>
                      <a:r>
                        <a:rPr sz="1000" b="0">
                          <a:solidFill>
                            <a:srgbClr val="C0392B"/>
                          </a:solidFill>
                          <a:latin typeface="Arial"/>
                        </a:rPr>
                        <a:t>&lt;TEST_PASSWORD&gt;</a:t>
                      </a:r>
                    </a:p>
                  </a:txBody>
                  <a:tcPr/>
                </a:tc>
                <a:extLst>
                  <a:ext uri="{0D108BD9-81ED-4DB2-BD59-A6C34878D82A}">
                    <a16:rowId xmlns:a16="http://schemas.microsoft.com/office/drawing/2014/main" val="524953750"/>
                  </a:ext>
                </a:extLst>
              </a:tr>
            </a:tbl>
          </a:graphicData>
        </a:graphic>
      </p:graphicFrame>
    </p:spTree>
    <p:extLst>
      <p:ext uri="{BB962C8B-B14F-4D97-AF65-F5344CB8AC3E}">
        <p14:creationId xmlns:p14="http://schemas.microsoft.com/office/powerpoint/2010/main" val="4246023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Contents</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14</a:t>
            </a:fld>
            <a:endParaRPr lang="pl-PL" dirty="0"/>
          </a:p>
        </p:txBody>
      </p:sp>
      <p:sp>
        <p:nvSpPr>
          <p:cNvPr id="15" name="Rectangle 6"/>
          <p:cNvSpPr txBox="1">
            <a:spLocks noChangeArrowheads="1"/>
          </p:cNvSpPr>
          <p:nvPr/>
        </p:nvSpPr>
        <p:spPr bwMode="auto">
          <a:xfrm>
            <a:off x="527051" y="2501900"/>
            <a:ext cx="6997278" cy="402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0" fontAlgn="base" hangingPunct="0">
              <a:lnSpc>
                <a:spcPct val="120000"/>
              </a:lnSpc>
              <a:spcBef>
                <a:spcPct val="0"/>
              </a:spcBef>
              <a:spcAft>
                <a:spcPct val="0"/>
              </a:spcAft>
              <a:buClr>
                <a:schemeClr val="tx1"/>
              </a:buClr>
              <a:buFont typeface="Symbol" pitchFamily="18" charset="2"/>
              <a:buNone/>
              <a:defRPr sz="1400" cap="none" baseline="0">
                <a:solidFill>
                  <a:srgbClr val="BFBFBF"/>
                </a:solidFill>
                <a:latin typeface="+mn-lt"/>
                <a:ea typeface="+mn-ea"/>
                <a:cs typeface="+mn-cs"/>
              </a:defRPr>
            </a:lvl1pPr>
            <a:lvl2pPr marL="179388" indent="0" algn="l" rtl="0" eaLnBrk="0" fontAlgn="base" hangingPunct="0">
              <a:lnSpc>
                <a:spcPct val="120000"/>
              </a:lnSpc>
              <a:spcBef>
                <a:spcPct val="0"/>
              </a:spcBef>
              <a:spcAft>
                <a:spcPct val="0"/>
              </a:spcAft>
              <a:buClr>
                <a:schemeClr val="tx1"/>
              </a:buClr>
              <a:buFont typeface="Symbol" charset="0"/>
              <a:buNone/>
              <a:defRPr sz="1600">
                <a:solidFill>
                  <a:schemeClr val="tx1"/>
                </a:solidFill>
                <a:latin typeface="+mn-lt"/>
                <a:ea typeface="Arial" charset="0"/>
                <a:cs typeface="+mn-cs"/>
              </a:defRPr>
            </a:lvl2pPr>
            <a:lvl3pPr marL="355600" indent="0" algn="l" rtl="0" eaLnBrk="0" fontAlgn="base" hangingPunct="0">
              <a:lnSpc>
                <a:spcPct val="120000"/>
              </a:lnSpc>
              <a:spcBef>
                <a:spcPct val="0"/>
              </a:spcBef>
              <a:spcAft>
                <a:spcPct val="0"/>
              </a:spcAft>
              <a:buClr>
                <a:schemeClr val="tx1"/>
              </a:buClr>
              <a:buFont typeface="Symbol" pitchFamily="18" charset="2"/>
              <a:buNone/>
              <a:defRPr sz="1600">
                <a:solidFill>
                  <a:schemeClr val="tx1"/>
                </a:solidFill>
                <a:latin typeface="+mn-lt"/>
                <a:ea typeface="Arial" charset="0"/>
                <a:cs typeface="+mn-cs"/>
              </a:defRPr>
            </a:lvl3pPr>
            <a:lvl4pPr marL="542925" indent="-18891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4pPr>
            <a:lvl5pPr marL="714375" indent="-16986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5pPr>
            <a:lvl6pPr marL="893763" indent="-179388" algn="l" rtl="0" eaLnBrk="1" fontAlgn="base" hangingPunct="1">
              <a:lnSpc>
                <a:spcPct val="105000"/>
              </a:lnSpc>
              <a:spcBef>
                <a:spcPct val="0"/>
              </a:spcBef>
              <a:spcAft>
                <a:spcPct val="0"/>
              </a:spcAft>
              <a:buClr>
                <a:schemeClr val="tx1"/>
              </a:buClr>
              <a:buFont typeface="Symbol" pitchFamily="18" charset="2"/>
              <a:buChar char="-"/>
              <a:defRPr sz="1600">
                <a:solidFill>
                  <a:schemeClr val="tx1"/>
                </a:solidFill>
                <a:latin typeface="+mn-lt"/>
                <a:ea typeface="Arial" charset="0"/>
                <a:cs typeface="+mn-cs"/>
              </a:defRPr>
            </a:lvl6pPr>
            <a:lvl7pPr marL="16287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7pPr>
            <a:lvl8pPr marL="20859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8pPr>
            <a:lvl9pPr marL="25431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9pPr>
          </a:lstStyle>
          <a:p>
            <a:pPr lvl="0" latinLnBrk="0">
              <a:buClr>
                <a:srgbClr val="000000"/>
              </a:buClr>
              <a:defRPr/>
            </a:pPr>
            <a:r>
              <a:rPr lang="en-US" kern="0" dirty="0">
                <a:solidFill>
                  <a:schemeClr val="bg1">
                    <a:lumMod val="75000"/>
                  </a:schemeClr>
                </a:solidFill>
                <a:cs typeface="Arial"/>
              </a:rPr>
              <a:t>UI Structure</a:t>
            </a:r>
            <a:endParaRPr lang="pl-PL" kern="0" dirty="0">
              <a:solidFill>
                <a:schemeClr val="bg1">
                  <a:lumMod val="75000"/>
                </a:schemeClr>
              </a:solidFill>
              <a:cs typeface="Arial"/>
            </a:endParaRPr>
          </a:p>
          <a:p>
            <a:pPr lvl="0" latinLnBrk="0">
              <a:buClr>
                <a:srgbClr val="000000"/>
              </a:buClr>
              <a:defRPr/>
            </a:pPr>
            <a:r>
              <a:rPr lang="en-US" kern="0" dirty="0">
                <a:solidFill>
                  <a:srgbClr val="FFFFFF">
                    <a:lumMod val="75000"/>
                  </a:srgbClr>
                </a:solidFill>
                <a:cs typeface="Arial"/>
              </a:rPr>
              <a:t>Use Cases</a:t>
            </a:r>
            <a:endParaRPr lang="pl-PL" kern="0" dirty="0">
              <a:solidFill>
                <a:srgbClr val="FFFFFF">
                  <a:lumMod val="75000"/>
                </a:srgbClr>
              </a:solidFill>
              <a:cs typeface="Arial"/>
            </a:endParaRPr>
          </a:p>
          <a:p>
            <a:pPr lvl="0" latinLnBrk="0">
              <a:buClr>
                <a:srgbClr val="000000"/>
              </a:buClr>
              <a:defRPr/>
            </a:pPr>
            <a:r>
              <a:rPr lang="en-US" b="1" kern="0" dirty="0">
                <a:solidFill>
                  <a:srgbClr val="374971"/>
                </a:solidFill>
                <a:cs typeface="Arial"/>
              </a:rPr>
              <a:t>Menus and Functions</a:t>
            </a:r>
            <a:endParaRPr lang="pl-PL" b="1" kern="0" dirty="0">
              <a:solidFill>
                <a:srgbClr val="374971"/>
              </a:solidFill>
              <a:cs typeface="Arial"/>
            </a:endParaRPr>
          </a:p>
          <a:p>
            <a:pPr lvl="0" latinLnBrk="0">
              <a:buClr>
                <a:srgbClr val="000000"/>
              </a:buClr>
              <a:defRPr/>
            </a:pPr>
            <a:r>
              <a:rPr lang="en-US" kern="0" dirty="0">
                <a:cs typeface="Arial"/>
              </a:rPr>
              <a:t>Remote Control Keys</a:t>
            </a:r>
            <a:endParaRPr lang="pl-PL" kern="0" dirty="0">
              <a:cs typeface="Arial"/>
            </a:endParaRPr>
          </a:p>
          <a:p>
            <a:pPr lvl="0" latinLnBrk="0">
              <a:buClr>
                <a:srgbClr val="000000"/>
              </a:buClr>
              <a:defRPr/>
            </a:pPr>
            <a:r>
              <a:rPr lang="en-US" kern="0" dirty="0">
                <a:cs typeface="Arial"/>
              </a:rPr>
              <a:t>Language Options</a:t>
            </a: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p:txBody>
      </p:sp>
      <p:grpSp>
        <p:nvGrpSpPr>
          <p:cNvPr id="16" name="Grupp 3"/>
          <p:cNvGrpSpPr>
            <a:grpSpLocks/>
          </p:cNvGrpSpPr>
          <p:nvPr/>
        </p:nvGrpSpPr>
        <p:grpSpPr bwMode="auto">
          <a:xfrm>
            <a:off x="0" y="2996952"/>
            <a:ext cx="331788" cy="323850"/>
            <a:chOff x="3044126" y="1710821"/>
            <a:chExt cx="331004" cy="547536"/>
          </a:xfrm>
        </p:grpSpPr>
        <p:sp>
          <p:nvSpPr>
            <p:cNvPr id="17" name="Rektangel med rundade hörn 4"/>
            <p:cNvSpPr/>
            <p:nvPr/>
          </p:nvSpPr>
          <p:spPr>
            <a:xfrm>
              <a:off x="3044126" y="1710821"/>
              <a:ext cx="221725" cy="544853"/>
            </a:xfrm>
            <a:prstGeom prst="roundRect">
              <a:avLst>
                <a:gd name="adj" fmla="val 0"/>
              </a:avLst>
            </a:prstGeom>
            <a:gradFill flip="none" rotWithShape="1">
              <a:gsLst>
                <a:gs pos="0">
                  <a:srgbClr val="2B3957"/>
                </a:gs>
                <a:gs pos="79000">
                  <a:srgbClr val="516BA5"/>
                </a:gs>
              </a:gsLst>
              <a:lin ang="0" scaled="1"/>
              <a:tileRect/>
            </a:gradFill>
            <a:ln w="12700" cap="flat" cmpd="sng" algn="ctr">
              <a:noFill/>
              <a:prstDash val="solid"/>
            </a:ln>
            <a:effectLst/>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000" b="0" i="0" u="none" strike="noStrike" kern="0" cap="none" spc="0" normalizeH="0" baseline="0" noProof="0" dirty="0">
                <a:ln>
                  <a:noFill/>
                </a:ln>
                <a:solidFill>
                  <a:srgbClr val="FFFFFF"/>
                </a:solidFill>
                <a:effectLst/>
                <a:uLnTx/>
                <a:uFillTx/>
                <a:latin typeface="Helvetica Neue"/>
                <a:cs typeface="Helvetica Neue"/>
              </a:endParaRPr>
            </a:p>
          </p:txBody>
        </p:sp>
        <p:sp>
          <p:nvSpPr>
            <p:cNvPr id="18" name="Likbent triangel 5"/>
            <p:cNvSpPr/>
            <p:nvPr/>
          </p:nvSpPr>
          <p:spPr>
            <a:xfrm rot="5400000">
              <a:off x="3045931" y="1929157"/>
              <a:ext cx="547536" cy="110862"/>
            </a:xfrm>
            <a:prstGeom prst="triangle">
              <a:avLst/>
            </a:prstGeom>
            <a:solidFill>
              <a:srgbClr val="516BA5"/>
            </a:solidFill>
            <a:ln w="9525"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500" b="0" i="0" u="none" strike="noStrike" kern="0" cap="none" spc="0" normalizeH="0" baseline="0" noProof="0">
                <a:ln>
                  <a:noFill/>
                </a:ln>
                <a:solidFill>
                  <a:srgbClr val="FFFFFF"/>
                </a:solidFill>
                <a:effectLst/>
                <a:uLnTx/>
                <a:uFillTx/>
                <a:latin typeface="Arial"/>
                <a:cs typeface="Arial"/>
              </a:endParaRPr>
            </a:p>
          </p:txBody>
        </p:sp>
      </p:grpSp>
    </p:spTree>
    <p:extLst>
      <p:ext uri="{BB962C8B-B14F-4D97-AF65-F5344CB8AC3E}">
        <p14:creationId xmlns:p14="http://schemas.microsoft.com/office/powerpoint/2010/main" val="67951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pl-PL" dirty="0"/>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15</a:t>
            </a:fld>
            <a:endParaRPr lang="pl-PL" dirty="0"/>
          </a:p>
        </p:txBody>
      </p:sp>
      <p:sp>
        <p:nvSpPr>
          <p:cNvPr id="6" name="Content Placeholder 5"/>
          <p:cNvSpPr>
            <a:spLocks noGrp="1"/>
          </p:cNvSpPr>
          <p:nvPr>
            <p:ph idx="1"/>
          </p:nvPr>
        </p:nvSpPr>
        <p:spPr/>
        <p:txBody>
          <a:bodyPr/>
          <a:lstStyle/>
          <a:p>
            <a:pPr latinLnBrk="0" eaLnBrk="1"/>
            <a:r>
              <a:rPr sz="1400">
                <a:solidFill>
                  <a:srgbClr val="262626"/>
                </a:solidFill>
              </a:rPr>
              <a:t>One slide per screen, with numbered labels on a real screenshot of this version.</a:t>
            </a:r>
          </a:p>
          <a:p>
            <a:pPr latinLnBrk="0" eaLnBrk="1"/>
            <a:r>
              <a:rPr sz="1400">
                <a:solidFill>
                  <a:srgbClr val="262626"/>
                </a:solidFill>
              </a:rPr>
              <a:t>Screenshots taken with the application in English and a fictional demo playlist (names, posters and logos invented for the demo). Content names come from the playlist and are not translated.</a:t>
            </a:r>
          </a:p>
          <a:p>
            <a:pPr latinLnBrk="0" eaLnBrk="1"/>
            <a:r>
              <a:rPr sz="1400">
                <a:solidFill>
                  <a:srgbClr val="262626"/>
                </a:solidFill>
              </a:rPr>
              <a:t>Every screen keeps one item focused (orange frame); the key guide at the bottom shows the keys of that screen.</a:t>
            </a:r>
          </a:p>
        </p:txBody>
      </p:sp>
    </p:spTree>
    <p:extLst>
      <p:ext uri="{BB962C8B-B14F-4D97-AF65-F5344CB8AC3E}">
        <p14:creationId xmlns:p14="http://schemas.microsoft.com/office/powerpoint/2010/main" val="195606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Contents</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18</a:t>
            </a:fld>
            <a:endParaRPr lang="pl-PL" dirty="0"/>
          </a:p>
        </p:txBody>
      </p:sp>
      <p:sp>
        <p:nvSpPr>
          <p:cNvPr id="15" name="Rectangle 6"/>
          <p:cNvSpPr txBox="1">
            <a:spLocks noChangeArrowheads="1"/>
          </p:cNvSpPr>
          <p:nvPr/>
        </p:nvSpPr>
        <p:spPr bwMode="auto">
          <a:xfrm>
            <a:off x="527051" y="2501900"/>
            <a:ext cx="6997278" cy="402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0" fontAlgn="base" hangingPunct="0">
              <a:lnSpc>
                <a:spcPct val="120000"/>
              </a:lnSpc>
              <a:spcBef>
                <a:spcPct val="0"/>
              </a:spcBef>
              <a:spcAft>
                <a:spcPct val="0"/>
              </a:spcAft>
              <a:buClr>
                <a:schemeClr val="tx1"/>
              </a:buClr>
              <a:buFont typeface="Symbol" pitchFamily="18" charset="2"/>
              <a:buNone/>
              <a:defRPr sz="1400" cap="none" baseline="0">
                <a:solidFill>
                  <a:srgbClr val="BFBFBF"/>
                </a:solidFill>
                <a:latin typeface="+mn-lt"/>
                <a:ea typeface="+mn-ea"/>
                <a:cs typeface="+mn-cs"/>
              </a:defRPr>
            </a:lvl1pPr>
            <a:lvl2pPr marL="179388" indent="0" algn="l" rtl="0" eaLnBrk="0" fontAlgn="base" hangingPunct="0">
              <a:lnSpc>
                <a:spcPct val="120000"/>
              </a:lnSpc>
              <a:spcBef>
                <a:spcPct val="0"/>
              </a:spcBef>
              <a:spcAft>
                <a:spcPct val="0"/>
              </a:spcAft>
              <a:buClr>
                <a:schemeClr val="tx1"/>
              </a:buClr>
              <a:buFont typeface="Symbol" charset="0"/>
              <a:buNone/>
              <a:defRPr sz="1600">
                <a:solidFill>
                  <a:schemeClr val="tx1"/>
                </a:solidFill>
                <a:latin typeface="+mn-lt"/>
                <a:ea typeface="Arial" charset="0"/>
                <a:cs typeface="+mn-cs"/>
              </a:defRPr>
            </a:lvl2pPr>
            <a:lvl3pPr marL="355600" indent="0" algn="l" rtl="0" eaLnBrk="0" fontAlgn="base" hangingPunct="0">
              <a:lnSpc>
                <a:spcPct val="120000"/>
              </a:lnSpc>
              <a:spcBef>
                <a:spcPct val="0"/>
              </a:spcBef>
              <a:spcAft>
                <a:spcPct val="0"/>
              </a:spcAft>
              <a:buClr>
                <a:schemeClr val="tx1"/>
              </a:buClr>
              <a:buFont typeface="Symbol" pitchFamily="18" charset="2"/>
              <a:buNone/>
              <a:defRPr sz="1600">
                <a:solidFill>
                  <a:schemeClr val="tx1"/>
                </a:solidFill>
                <a:latin typeface="+mn-lt"/>
                <a:ea typeface="Arial" charset="0"/>
                <a:cs typeface="+mn-cs"/>
              </a:defRPr>
            </a:lvl3pPr>
            <a:lvl4pPr marL="542925" indent="-18891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4pPr>
            <a:lvl5pPr marL="714375" indent="-16986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5pPr>
            <a:lvl6pPr marL="893763" indent="-179388" algn="l" rtl="0" eaLnBrk="1" fontAlgn="base" hangingPunct="1">
              <a:lnSpc>
                <a:spcPct val="105000"/>
              </a:lnSpc>
              <a:spcBef>
                <a:spcPct val="0"/>
              </a:spcBef>
              <a:spcAft>
                <a:spcPct val="0"/>
              </a:spcAft>
              <a:buClr>
                <a:schemeClr val="tx1"/>
              </a:buClr>
              <a:buFont typeface="Symbol" pitchFamily="18" charset="2"/>
              <a:buChar char="-"/>
              <a:defRPr sz="1600">
                <a:solidFill>
                  <a:schemeClr val="tx1"/>
                </a:solidFill>
                <a:latin typeface="+mn-lt"/>
                <a:ea typeface="Arial" charset="0"/>
                <a:cs typeface="+mn-cs"/>
              </a:defRPr>
            </a:lvl6pPr>
            <a:lvl7pPr marL="16287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7pPr>
            <a:lvl8pPr marL="20859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8pPr>
            <a:lvl9pPr marL="25431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9pPr>
          </a:lstStyle>
          <a:p>
            <a:pPr lvl="0" latinLnBrk="0">
              <a:buClr>
                <a:srgbClr val="000000"/>
              </a:buClr>
              <a:defRPr/>
            </a:pPr>
            <a:r>
              <a:rPr lang="en-US" kern="0" dirty="0">
                <a:solidFill>
                  <a:schemeClr val="bg1">
                    <a:lumMod val="75000"/>
                  </a:schemeClr>
                </a:solidFill>
                <a:cs typeface="Arial"/>
              </a:rPr>
              <a:t>UI Structure</a:t>
            </a:r>
            <a:endParaRPr lang="pl-PL" kern="0" dirty="0">
              <a:solidFill>
                <a:schemeClr val="bg1">
                  <a:lumMod val="75000"/>
                </a:schemeClr>
              </a:solidFill>
              <a:cs typeface="Arial"/>
            </a:endParaRPr>
          </a:p>
          <a:p>
            <a:pPr lvl="0" latinLnBrk="0">
              <a:buClr>
                <a:srgbClr val="000000"/>
              </a:buClr>
              <a:defRPr/>
            </a:pPr>
            <a:r>
              <a:rPr lang="en-US" kern="0" dirty="0">
                <a:solidFill>
                  <a:srgbClr val="FFFFFF">
                    <a:lumMod val="75000"/>
                  </a:srgbClr>
                </a:solidFill>
                <a:cs typeface="Arial"/>
              </a:rPr>
              <a:t>Use Cases</a:t>
            </a:r>
            <a:endParaRPr lang="pl-PL" kern="0" dirty="0">
              <a:solidFill>
                <a:srgbClr val="FFFFFF">
                  <a:lumMod val="75000"/>
                </a:srgbClr>
              </a:solidFill>
              <a:cs typeface="Arial"/>
            </a:endParaRPr>
          </a:p>
          <a:p>
            <a:pPr lvl="0" latinLnBrk="0">
              <a:buClr>
                <a:srgbClr val="000000"/>
              </a:buClr>
              <a:defRPr/>
            </a:pPr>
            <a:r>
              <a:rPr lang="en-US" kern="0" dirty="0">
                <a:cs typeface="Arial"/>
              </a:rPr>
              <a:t>Menus and Functions</a:t>
            </a:r>
            <a:endParaRPr lang="pl-PL" kern="0" dirty="0">
              <a:cs typeface="Arial"/>
            </a:endParaRPr>
          </a:p>
          <a:p>
            <a:pPr lvl="0" latinLnBrk="0">
              <a:buClr>
                <a:srgbClr val="000000"/>
              </a:buClr>
              <a:defRPr/>
            </a:pPr>
            <a:r>
              <a:rPr lang="en-US" b="1" kern="0" dirty="0">
                <a:solidFill>
                  <a:srgbClr val="374971"/>
                </a:solidFill>
                <a:cs typeface="Arial"/>
              </a:rPr>
              <a:t>Remote Control Keys</a:t>
            </a:r>
            <a:endParaRPr lang="pl-PL" b="1" kern="0" dirty="0">
              <a:solidFill>
                <a:srgbClr val="374971"/>
              </a:solidFill>
              <a:cs typeface="Arial"/>
            </a:endParaRPr>
          </a:p>
          <a:p>
            <a:pPr lvl="0" latinLnBrk="0">
              <a:buClr>
                <a:srgbClr val="000000"/>
              </a:buClr>
              <a:defRPr/>
            </a:pPr>
            <a:r>
              <a:rPr lang="en-US" kern="0" dirty="0">
                <a:cs typeface="Arial"/>
              </a:rPr>
              <a:t>Language Options</a:t>
            </a: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p:txBody>
      </p:sp>
      <p:grpSp>
        <p:nvGrpSpPr>
          <p:cNvPr id="16" name="Grupp 3"/>
          <p:cNvGrpSpPr>
            <a:grpSpLocks/>
          </p:cNvGrpSpPr>
          <p:nvPr/>
        </p:nvGrpSpPr>
        <p:grpSpPr bwMode="auto">
          <a:xfrm>
            <a:off x="0" y="3249166"/>
            <a:ext cx="331788" cy="323850"/>
            <a:chOff x="3044126" y="1710821"/>
            <a:chExt cx="331004" cy="547536"/>
          </a:xfrm>
        </p:grpSpPr>
        <p:sp>
          <p:nvSpPr>
            <p:cNvPr id="17" name="Rektangel med rundade hörn 4"/>
            <p:cNvSpPr/>
            <p:nvPr/>
          </p:nvSpPr>
          <p:spPr>
            <a:xfrm>
              <a:off x="3044126" y="1710821"/>
              <a:ext cx="221725" cy="544853"/>
            </a:xfrm>
            <a:prstGeom prst="roundRect">
              <a:avLst>
                <a:gd name="adj" fmla="val 0"/>
              </a:avLst>
            </a:prstGeom>
            <a:gradFill flip="none" rotWithShape="1">
              <a:gsLst>
                <a:gs pos="0">
                  <a:srgbClr val="2B3957"/>
                </a:gs>
                <a:gs pos="79000">
                  <a:srgbClr val="516BA5"/>
                </a:gs>
              </a:gsLst>
              <a:lin ang="0" scaled="1"/>
              <a:tileRect/>
            </a:gradFill>
            <a:ln w="12700" cap="flat" cmpd="sng" algn="ctr">
              <a:noFill/>
              <a:prstDash val="solid"/>
            </a:ln>
            <a:effectLst/>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000" b="0" i="0" u="none" strike="noStrike" kern="0" cap="none" spc="0" normalizeH="0" baseline="0" noProof="0" dirty="0">
                <a:ln>
                  <a:noFill/>
                </a:ln>
                <a:solidFill>
                  <a:srgbClr val="FFFFFF"/>
                </a:solidFill>
                <a:effectLst/>
                <a:uLnTx/>
                <a:uFillTx/>
                <a:latin typeface="Helvetica Neue"/>
                <a:cs typeface="Helvetica Neue"/>
              </a:endParaRPr>
            </a:p>
          </p:txBody>
        </p:sp>
        <p:sp>
          <p:nvSpPr>
            <p:cNvPr id="18" name="Likbent triangel 5"/>
            <p:cNvSpPr/>
            <p:nvPr/>
          </p:nvSpPr>
          <p:spPr>
            <a:xfrm rot="5400000">
              <a:off x="3045931" y="1929157"/>
              <a:ext cx="547536" cy="110862"/>
            </a:xfrm>
            <a:prstGeom prst="triangle">
              <a:avLst/>
            </a:prstGeom>
            <a:solidFill>
              <a:srgbClr val="516BA5"/>
            </a:solidFill>
            <a:ln w="9525"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500" b="0" i="0" u="none" strike="noStrike" kern="0" cap="none" spc="0" normalizeH="0" baseline="0" noProof="0">
                <a:ln>
                  <a:noFill/>
                </a:ln>
                <a:solidFill>
                  <a:srgbClr val="FFFFFF"/>
                </a:solidFill>
                <a:effectLst/>
                <a:uLnTx/>
                <a:uFillTx/>
                <a:latin typeface="Arial"/>
                <a:cs typeface="Arial"/>
              </a:endParaRPr>
            </a:p>
          </p:txBody>
        </p:sp>
      </p:grpSp>
    </p:spTree>
    <p:extLst>
      <p:ext uri="{BB962C8B-B14F-4D97-AF65-F5344CB8AC3E}">
        <p14:creationId xmlns:p14="http://schemas.microsoft.com/office/powerpoint/2010/main" val="4249612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dirty="0"/>
              <a:t>Remote Control Keys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19</a:t>
            </a:fld>
            <a:endParaRPr lang="pl-PL" dirty="0"/>
          </a:p>
        </p:txBody>
      </p:sp>
      <p:sp>
        <p:nvSpPr>
          <p:cNvPr id="5" name="Content Placeholder 4"/>
          <p:cNvSpPr>
            <a:spLocks noGrp="1"/>
          </p:cNvSpPr>
          <p:nvPr>
            <p:ph idx="1"/>
          </p:nvPr>
        </p:nvSpPr>
        <p:spPr>
          <a:xfrm>
            <a:off x="457200" y="1594480"/>
            <a:ext cx="8229600" cy="731520"/>
          </a:xfrm>
        </p:spPr>
        <p:txBody>
          <a:bodyPr/>
          <a:lstStyle/>
          <a:p>
            <a:pPr latinLnBrk="0" eaLnBrk="1"/>
            <a:r>
              <a:rPr sz="1300">
                <a:solidFill>
                  <a:srgbClr val="262626"/>
                </a:solidFill>
              </a:rPr>
              <a:t>Only the keys below are used. RETURN and EXIT keep their standard behavior.</a:t>
            </a:r>
          </a:p>
        </p:txBody>
      </p:sp>
      <p:graphicFrame>
        <p:nvGraphicFramePr>
          <p:cNvPr id="9" name="Table 8"/>
          <p:cNvGraphicFramePr>
            <a:graphicFrameLocks noGrp="1"/>
          </p:cNvGraphicFramePr>
          <p:nvPr>
            <p:extLst>
              <p:ext uri="{D42A27DB-BD31-4B8C-83A1-F6EECF244321}">
                <p14:modId xmlns:p14="http://schemas.microsoft.com/office/powerpoint/2010/main" val="1005736217"/>
              </p:ext>
            </p:extLst>
          </p:nvPr>
        </p:nvGraphicFramePr>
        <p:xfrm>
          <a:off x="606388" y="2148840"/>
          <a:ext cx="7909560" cy="3173712"/>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70840">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Key</a:t>
                      </a:r>
                      <a:endParaRPr lang="ko-KR" altLang="en-US" sz="1400" dirty="0"/>
                    </a:p>
                  </a:txBody>
                  <a:tcPr marL="108000" anchor="ctr"/>
                </a:tc>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Action</a:t>
                      </a:r>
                      <a:endParaRPr lang="ko-KR" altLang="en-US" sz="1400" dirty="0"/>
                    </a:p>
                  </a:txBody>
                  <a:tcPr marL="108000" anchor="ctr"/>
                </a:tc>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Remarks</a:t>
                      </a:r>
                      <a:endParaRPr lang="ko-KR" altLang="en-US" sz="1400" dirty="0"/>
                    </a:p>
                  </a:txBody>
                  <a:tcPr marL="108000" anchor="ctr"/>
                </a:tc>
                <a:extLst>
                  <a:ext uri="{0D108BD9-81ED-4DB2-BD59-A6C34878D82A}">
                    <a16:rowId xmlns:a16="http://schemas.microsoft.com/office/drawing/2014/main" val="10000"/>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RETURN</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Move to the previous screen; the focus goes back to the item you came from. On the list selection screen, shows the "Exit CCPlayTV?" confirmation.</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Mandatory. Not modified.</a:t>
                      </a:r>
                    </a:p>
                  </a:txBody>
                  <a:tcPr marL="108000" marR="36000" marT="36000" marB="36000" anchor="ctr" horzOverflow="overflow"/>
                </a:tc>
                <a:extLst>
                  <a:ext uri="{0D108BD9-81ED-4DB2-BD59-A6C34878D82A}">
                    <a16:rowId xmlns:a16="http://schemas.microsoft.com/office/drawing/2014/main" val="10001"/>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EXIT</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Close the application and show the TV broadcast channel.</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Mandatory. Not modified.</a:t>
                      </a:r>
                    </a:p>
                  </a:txBody>
                  <a:tcPr marL="108000" marR="36000" marT="36000" marB="36000" anchor="ctr" horzOverflow="overflow"/>
                </a:tc>
                <a:extLst>
                  <a:ext uri="{0D108BD9-81ED-4DB2-BD59-A6C34878D82A}">
                    <a16:rowId xmlns:a16="http://schemas.microsoft.com/office/drawing/2014/main" val="10002"/>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UP / DOWN / LEFT / RIGHT</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Move the focus between top bar, categories, rows, cards and buttons. Moving the focus never starts playback.</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
                      </a:r>
                      <a:endParaRPr lang="ko-KR" altLang="en-US" dirty="0"/>
                    </a:p>
                  </a:txBody>
                  <a:tcPr marL="108000" anchor="ctr"/>
                </a:tc>
                <a:extLst>
                  <a:ext uri="{0D108BD9-81ED-4DB2-BD59-A6C34878D82A}">
                    <a16:rowId xmlns:a16="http://schemas.microsoft.com/office/drawing/2014/main" val="10003"/>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ENTER (OK)</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Open the focused item or press the focused button. On a channel or episode, start playback. In the player, show the controls.</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
                      </a:r>
                      <a:endParaRPr lang="ko-KR" altLang="en-US" dirty="0"/>
                    </a:p>
                  </a:txBody>
                  <a:tcPr marL="108000" anchor="ctr"/>
                </a:tc>
                <a:extLst>
                  <a:ext uri="{0D108BD9-81ED-4DB2-BD59-A6C34878D82A}">
                    <a16:rowId xmlns:a16="http://schemas.microsoft.com/office/drawing/2014/main" val="10004"/>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Hold ENTER (OK)</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Add/remove the focused channel, movie, series or station to/from Favorites.</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
                      </a:r>
                      <a:endParaRPr lang="ko-KR" altLang="en-US" dirty="0"/>
                    </a:p>
                  </a:txBody>
                  <a:tcPr marL="108000" anchor="ctr"/>
                </a:tc>
                <a:extLst>
                  <a:ext uri="{0D108BD9-81ED-4DB2-BD59-A6C34878D82A}">
                    <a16:rowId xmlns:a16="http://schemas.microsoft.com/office/drawing/2014/main" val="10005"/>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YELLOW</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Same as holding OK: add/remove Favorites.</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Where items can be favorited</a:t>
                      </a:r>
                      <a:endParaRPr lang="ko-KR" altLang="en-US" dirty="0"/>
                    </a:p>
                  </a:txBody>
                  <a:tcPr marL="10800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45239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prstGeom prst="rect">
            <a:avLst/>
          </a:prstGeom>
        </p:spPr>
        <p:txBody>
          <a:bodyPr/>
          <a:lstStyle/>
          <a:p>
            <a:r>
              <a:rPr lang="en-US" altLang="ko-KR" dirty="0"/>
              <a:t>Contents</a:t>
            </a:r>
            <a:endParaRPr lang="ko-KR" altLang="en-US" dirty="0"/>
          </a:p>
        </p:txBody>
      </p:sp>
      <p:sp>
        <p:nvSpPr>
          <p:cNvPr id="4" name="Slide Number Placeholder 3"/>
          <p:cNvSpPr>
            <a:spLocks noGrp="1"/>
          </p:cNvSpPr>
          <p:nvPr>
            <p:ph type="sldNum" sz="quarter" idx="4"/>
          </p:nvPr>
        </p:nvSpPr>
        <p:spPr/>
        <p:txBody>
          <a:bodyPr/>
          <a:lstStyle/>
          <a:p>
            <a:fld id="{42AF35AD-09C2-4EBD-8934-72FD947EF48F}" type="slidenum">
              <a:rPr lang="pl-PL" smtClean="0"/>
              <a:pPr/>
              <a:t>20</a:t>
            </a:fld>
            <a:endParaRPr lang="pl-PL" dirty="0"/>
          </a:p>
        </p:txBody>
      </p:sp>
      <p:sp>
        <p:nvSpPr>
          <p:cNvPr id="15" name="Rectangle 6"/>
          <p:cNvSpPr txBox="1">
            <a:spLocks noChangeArrowheads="1"/>
          </p:cNvSpPr>
          <p:nvPr/>
        </p:nvSpPr>
        <p:spPr bwMode="auto">
          <a:xfrm>
            <a:off x="527051" y="2501900"/>
            <a:ext cx="6997278" cy="402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rtl="0" eaLnBrk="0" fontAlgn="base" hangingPunct="0">
              <a:lnSpc>
                <a:spcPct val="120000"/>
              </a:lnSpc>
              <a:spcBef>
                <a:spcPct val="0"/>
              </a:spcBef>
              <a:spcAft>
                <a:spcPct val="0"/>
              </a:spcAft>
              <a:buClr>
                <a:schemeClr val="tx1"/>
              </a:buClr>
              <a:buFont typeface="Symbol" pitchFamily="18" charset="2"/>
              <a:buNone/>
              <a:defRPr sz="1400" cap="none" baseline="0">
                <a:solidFill>
                  <a:srgbClr val="BFBFBF"/>
                </a:solidFill>
                <a:latin typeface="+mn-lt"/>
                <a:ea typeface="+mn-ea"/>
                <a:cs typeface="+mn-cs"/>
              </a:defRPr>
            </a:lvl1pPr>
            <a:lvl2pPr marL="179388" indent="0" algn="l" rtl="0" eaLnBrk="0" fontAlgn="base" hangingPunct="0">
              <a:lnSpc>
                <a:spcPct val="120000"/>
              </a:lnSpc>
              <a:spcBef>
                <a:spcPct val="0"/>
              </a:spcBef>
              <a:spcAft>
                <a:spcPct val="0"/>
              </a:spcAft>
              <a:buClr>
                <a:schemeClr val="tx1"/>
              </a:buClr>
              <a:buFont typeface="Symbol" charset="0"/>
              <a:buNone/>
              <a:defRPr sz="1600">
                <a:solidFill>
                  <a:schemeClr val="tx1"/>
                </a:solidFill>
                <a:latin typeface="+mn-lt"/>
                <a:ea typeface="Arial" charset="0"/>
                <a:cs typeface="+mn-cs"/>
              </a:defRPr>
            </a:lvl2pPr>
            <a:lvl3pPr marL="355600" indent="0" algn="l" rtl="0" eaLnBrk="0" fontAlgn="base" hangingPunct="0">
              <a:lnSpc>
                <a:spcPct val="120000"/>
              </a:lnSpc>
              <a:spcBef>
                <a:spcPct val="0"/>
              </a:spcBef>
              <a:spcAft>
                <a:spcPct val="0"/>
              </a:spcAft>
              <a:buClr>
                <a:schemeClr val="tx1"/>
              </a:buClr>
              <a:buFont typeface="Symbol" pitchFamily="18" charset="2"/>
              <a:buNone/>
              <a:defRPr sz="1600">
                <a:solidFill>
                  <a:schemeClr val="tx1"/>
                </a:solidFill>
                <a:latin typeface="+mn-lt"/>
                <a:ea typeface="Arial" charset="0"/>
                <a:cs typeface="+mn-cs"/>
              </a:defRPr>
            </a:lvl3pPr>
            <a:lvl4pPr marL="542925" indent="-18891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4pPr>
            <a:lvl5pPr marL="714375" indent="-169863" algn="l" rtl="0" eaLnBrk="0" fontAlgn="base" hangingPunct="0">
              <a:lnSpc>
                <a:spcPct val="105000"/>
              </a:lnSpc>
              <a:spcBef>
                <a:spcPct val="0"/>
              </a:spcBef>
              <a:spcAft>
                <a:spcPct val="0"/>
              </a:spcAft>
              <a:buClr>
                <a:schemeClr val="tx1"/>
              </a:buClr>
              <a:buFont typeface="Symbol" charset="0"/>
              <a:buChar char="-"/>
              <a:defRPr sz="1600">
                <a:solidFill>
                  <a:schemeClr val="tx1"/>
                </a:solidFill>
                <a:latin typeface="+mn-lt"/>
                <a:ea typeface="Arial" charset="0"/>
                <a:cs typeface="+mn-cs"/>
              </a:defRPr>
            </a:lvl5pPr>
            <a:lvl6pPr marL="893763" indent="-179388" algn="l" rtl="0" eaLnBrk="1" fontAlgn="base" hangingPunct="1">
              <a:lnSpc>
                <a:spcPct val="105000"/>
              </a:lnSpc>
              <a:spcBef>
                <a:spcPct val="0"/>
              </a:spcBef>
              <a:spcAft>
                <a:spcPct val="0"/>
              </a:spcAft>
              <a:buClr>
                <a:schemeClr val="tx1"/>
              </a:buClr>
              <a:buFont typeface="Symbol" pitchFamily="18" charset="2"/>
              <a:buChar char="-"/>
              <a:defRPr sz="1600">
                <a:solidFill>
                  <a:schemeClr val="tx1"/>
                </a:solidFill>
                <a:latin typeface="+mn-lt"/>
                <a:ea typeface="Arial" charset="0"/>
                <a:cs typeface="+mn-cs"/>
              </a:defRPr>
            </a:lvl6pPr>
            <a:lvl7pPr marL="16287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7pPr>
            <a:lvl8pPr marL="20859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8pPr>
            <a:lvl9pPr marL="2543175" indent="-169863" algn="l" rtl="0" eaLnBrk="1" fontAlgn="base" hangingPunct="1">
              <a:lnSpc>
                <a:spcPts val="2400"/>
              </a:lnSpc>
              <a:spcBef>
                <a:spcPct val="0"/>
              </a:spcBef>
              <a:spcAft>
                <a:spcPct val="0"/>
              </a:spcAft>
              <a:buClr>
                <a:srgbClr val="CC0000"/>
              </a:buClr>
              <a:buChar char="•"/>
              <a:defRPr sz="1500">
                <a:solidFill>
                  <a:schemeClr val="tx1"/>
                </a:solidFill>
                <a:latin typeface="+mn-lt"/>
                <a:ea typeface="Arial" charset="0"/>
                <a:cs typeface="+mn-cs"/>
              </a:defRPr>
            </a:lvl9pPr>
          </a:lstStyle>
          <a:p>
            <a:pPr lvl="0" latinLnBrk="0">
              <a:buClr>
                <a:srgbClr val="000000"/>
              </a:buClr>
              <a:defRPr/>
            </a:pPr>
            <a:r>
              <a:rPr lang="en-US" kern="0" dirty="0">
                <a:solidFill>
                  <a:schemeClr val="bg1">
                    <a:lumMod val="75000"/>
                  </a:schemeClr>
                </a:solidFill>
                <a:cs typeface="Arial"/>
              </a:rPr>
              <a:t>UI Structure</a:t>
            </a:r>
            <a:endParaRPr lang="pl-PL" kern="0" dirty="0">
              <a:solidFill>
                <a:schemeClr val="bg1">
                  <a:lumMod val="75000"/>
                </a:schemeClr>
              </a:solidFill>
              <a:cs typeface="Arial"/>
            </a:endParaRPr>
          </a:p>
          <a:p>
            <a:pPr lvl="0" latinLnBrk="0">
              <a:buClr>
                <a:srgbClr val="000000"/>
              </a:buClr>
              <a:defRPr/>
            </a:pPr>
            <a:r>
              <a:rPr lang="en-US" kern="0" dirty="0">
                <a:solidFill>
                  <a:srgbClr val="FFFFFF">
                    <a:lumMod val="75000"/>
                  </a:srgbClr>
                </a:solidFill>
                <a:cs typeface="Arial"/>
              </a:rPr>
              <a:t>Use Cases</a:t>
            </a:r>
            <a:endParaRPr lang="pl-PL" kern="0" dirty="0">
              <a:solidFill>
                <a:srgbClr val="FFFFFF">
                  <a:lumMod val="75000"/>
                </a:srgbClr>
              </a:solidFill>
              <a:cs typeface="Arial"/>
            </a:endParaRPr>
          </a:p>
          <a:p>
            <a:pPr lvl="0" latinLnBrk="0">
              <a:buClr>
                <a:srgbClr val="000000"/>
              </a:buClr>
              <a:defRPr/>
            </a:pPr>
            <a:r>
              <a:rPr lang="en-US" kern="0" dirty="0">
                <a:cs typeface="Arial"/>
              </a:rPr>
              <a:t>Menus and Functions</a:t>
            </a:r>
            <a:endParaRPr lang="pl-PL" kern="0" dirty="0">
              <a:cs typeface="Arial"/>
            </a:endParaRPr>
          </a:p>
          <a:p>
            <a:pPr lvl="0" latinLnBrk="0">
              <a:buClr>
                <a:srgbClr val="000000"/>
              </a:buClr>
              <a:defRPr/>
            </a:pPr>
            <a:r>
              <a:rPr lang="en-US" kern="0" dirty="0">
                <a:cs typeface="Arial"/>
              </a:rPr>
              <a:t>Remote Control Keys</a:t>
            </a:r>
            <a:endParaRPr lang="pl-PL" kern="0" dirty="0">
              <a:cs typeface="Arial"/>
            </a:endParaRPr>
          </a:p>
          <a:p>
            <a:pPr lvl="0" latinLnBrk="0">
              <a:buClr>
                <a:srgbClr val="000000"/>
              </a:buClr>
              <a:defRPr/>
            </a:pPr>
            <a:r>
              <a:rPr lang="en-US" b="1" kern="0" dirty="0">
                <a:solidFill>
                  <a:srgbClr val="2B3957"/>
                </a:solidFill>
                <a:cs typeface="Arial"/>
              </a:rPr>
              <a:t>Language Options</a:t>
            </a:r>
            <a:endParaRPr kumimoji="0" lang="en-US" sz="1400" b="1" i="0" u="none" strike="noStrike" kern="0" cap="none" spc="0" normalizeH="0" baseline="0" noProof="0" dirty="0">
              <a:ln>
                <a:noFill/>
              </a:ln>
              <a:solidFill>
                <a:srgbClr val="2B3957"/>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A6A6A6"/>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a:p>
            <a:pPr marL="0" marR="0" lvl="0" indent="0" algn="l" defTabSz="914400" rtl="0" eaLnBrk="0" fontAlgn="base" latinLnBrk="0" hangingPunct="0">
              <a:lnSpc>
                <a:spcPct val="120000"/>
              </a:lnSpc>
              <a:spcBef>
                <a:spcPct val="0"/>
              </a:spcBef>
              <a:spcAft>
                <a:spcPct val="0"/>
              </a:spcAft>
              <a:buClr>
                <a:srgbClr val="000000"/>
              </a:buClr>
              <a:buSzTx/>
              <a:buFont typeface="Symbol" pitchFamily="18" charset="2"/>
              <a:buNone/>
              <a:tabLst/>
              <a:defRPr/>
            </a:pPr>
            <a:endParaRPr kumimoji="0" lang="en-US" sz="1400" b="0" i="0" u="none" strike="noStrike" kern="0" cap="none" spc="0" normalizeH="0" baseline="0" noProof="0" dirty="0">
              <a:ln>
                <a:noFill/>
              </a:ln>
              <a:solidFill>
                <a:srgbClr val="BFBFBF"/>
              </a:solidFill>
              <a:effectLst/>
              <a:uLnTx/>
              <a:uFillTx/>
              <a:latin typeface="Arial"/>
              <a:cs typeface="Arial"/>
            </a:endParaRPr>
          </a:p>
        </p:txBody>
      </p:sp>
      <p:grpSp>
        <p:nvGrpSpPr>
          <p:cNvPr id="16" name="Grupp 3"/>
          <p:cNvGrpSpPr>
            <a:grpSpLocks/>
          </p:cNvGrpSpPr>
          <p:nvPr/>
        </p:nvGrpSpPr>
        <p:grpSpPr bwMode="auto">
          <a:xfrm>
            <a:off x="0" y="3501008"/>
            <a:ext cx="331788" cy="323850"/>
            <a:chOff x="3044126" y="1710821"/>
            <a:chExt cx="331004" cy="547536"/>
          </a:xfrm>
        </p:grpSpPr>
        <p:sp>
          <p:nvSpPr>
            <p:cNvPr id="17" name="Rektangel med rundade hörn 4"/>
            <p:cNvSpPr/>
            <p:nvPr/>
          </p:nvSpPr>
          <p:spPr>
            <a:xfrm>
              <a:off x="3044126" y="1710821"/>
              <a:ext cx="221725" cy="544853"/>
            </a:xfrm>
            <a:prstGeom prst="roundRect">
              <a:avLst>
                <a:gd name="adj" fmla="val 0"/>
              </a:avLst>
            </a:prstGeom>
            <a:gradFill flip="none" rotWithShape="1">
              <a:gsLst>
                <a:gs pos="0">
                  <a:srgbClr val="2B3957"/>
                </a:gs>
                <a:gs pos="79000">
                  <a:srgbClr val="516BA5"/>
                </a:gs>
              </a:gsLst>
              <a:lin ang="0" scaled="1"/>
              <a:tileRect/>
            </a:gradFill>
            <a:ln w="12700" cap="flat" cmpd="sng" algn="ctr">
              <a:noFill/>
              <a:prstDash val="solid"/>
            </a:ln>
            <a:effectLst/>
          </p:spPr>
          <p:txBody>
            <a:bodyPr lIns="0" tIns="0" r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000" b="0" i="0" u="none" strike="noStrike" kern="0" cap="none" spc="0" normalizeH="0" baseline="0" noProof="0" dirty="0">
                <a:ln>
                  <a:noFill/>
                </a:ln>
                <a:solidFill>
                  <a:srgbClr val="FFFFFF"/>
                </a:solidFill>
                <a:effectLst/>
                <a:uLnTx/>
                <a:uFillTx/>
                <a:latin typeface="Helvetica Neue"/>
                <a:cs typeface="Helvetica Neue"/>
              </a:endParaRPr>
            </a:p>
          </p:txBody>
        </p:sp>
        <p:sp>
          <p:nvSpPr>
            <p:cNvPr id="18" name="Likbent triangel 5"/>
            <p:cNvSpPr/>
            <p:nvPr/>
          </p:nvSpPr>
          <p:spPr>
            <a:xfrm rot="5400000">
              <a:off x="3045931" y="1929157"/>
              <a:ext cx="547536" cy="110862"/>
            </a:xfrm>
            <a:prstGeom prst="triangle">
              <a:avLst/>
            </a:prstGeom>
            <a:solidFill>
              <a:srgbClr val="516BA5"/>
            </a:solidFill>
            <a:ln w="9525"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sv-SE" sz="1500" b="0" i="0" u="none" strike="noStrike" kern="0" cap="none" spc="0" normalizeH="0" baseline="0" noProof="0">
                <a:ln>
                  <a:noFill/>
                </a:ln>
                <a:solidFill>
                  <a:srgbClr val="FFFFFF"/>
                </a:solidFill>
                <a:effectLst/>
                <a:uLnTx/>
                <a:uFillTx/>
                <a:latin typeface="Arial"/>
                <a:cs typeface="Arial"/>
              </a:endParaRPr>
            </a:p>
          </p:txBody>
        </p:sp>
      </p:grpSp>
    </p:spTree>
    <p:extLst>
      <p:ext uri="{BB962C8B-B14F-4D97-AF65-F5344CB8AC3E}">
        <p14:creationId xmlns:p14="http://schemas.microsoft.com/office/powerpoint/2010/main" val="1355701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pl-PL" dirty="0"/>
              <a:t>Language Options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21</a:t>
            </a:fld>
            <a:endParaRPr lang="pl-PL" dirty="0"/>
          </a:p>
        </p:txBody>
      </p:sp>
      <p:sp>
        <p:nvSpPr>
          <p:cNvPr id="6" name="Content Placeholder 5"/>
          <p:cNvSpPr>
            <a:spLocks noGrp="1"/>
          </p:cNvSpPr>
          <p:nvPr>
            <p:ph idx="1"/>
          </p:nvPr>
        </p:nvSpPr>
        <p:spPr>
          <a:xfrm>
            <a:off x="457200" y="1594480"/>
            <a:ext cx="8229600" cy="4389120"/>
          </a:xfrm>
        </p:spPr>
        <p:txBody>
          <a:bodyPr/>
          <a:lstStyle/>
          <a:p>
            <a:pPr latinLnBrk="0" eaLnBrk="1"/>
            <a:r>
              <a:rPr sz="1400">
                <a:solidFill>
                  <a:srgbClr val="262626"/>
                </a:solidFill>
              </a:rPr>
              <a:t>The application is available in English, Portuguese and Spanish.</a:t>
            </a:r>
          </a:p>
          <a:p>
            <a:pPr latinLnBrk="0" eaLnBrk="1"/>
            <a:r>
              <a:rPr sz="1400">
                <a:solidFill>
                  <a:srgbClr val="262626"/>
                </a:solidFill>
              </a:rPr>
              <a:t>By default it follows the TV language when it is one of these three (otherwise Portuguese).</a:t>
            </a:r>
          </a:p>
          <a:p>
            <a:pPr latinLnBrk="0" eaLnBrk="1"/>
            <a:r>
              <a:rPr sz="1400">
                <a:solidFill>
                  <a:srgbClr val="262626"/>
                </a:solidFill>
              </a:rPr>
              <a:t>To switch the application language:</a:t>
            </a:r>
          </a:p>
          <a:p>
            <a:pPr lvl="1" latinLnBrk="0" eaLnBrk="1"/>
            <a:r>
              <a:rPr sz="1400">
                <a:solidFill>
                  <a:srgbClr val="262626"/>
                </a:solidFill>
              </a:rPr>
              <a:t>From "Select or Add your list", select "Settings" (or the gear in the top bar).</a:t>
            </a:r>
          </a:p>
          <a:p>
            <a:pPr lvl="1" latinLnBrk="0" eaLnBrk="1"/>
            <a:r>
              <a:rPr sz="1400">
                <a:solidFill>
                  <a:srgbClr val="262626"/>
                </a:solidFill>
              </a:rPr>
              <a:t>Select "Accessibility", then "Language".</a:t>
            </a:r>
          </a:p>
          <a:p>
            <a:pPr lvl="1" latinLnBrk="0" eaLnBrk="1"/>
            <a:r>
              <a:rPr sz="1400">
                <a:solidFill>
                  <a:srgbClr val="262626"/>
                </a:solidFill>
              </a:rPr>
              <a:t>Choose English, Português or Español. The new language applies immediately, no restart needed.</a:t>
            </a:r>
          </a:p>
          <a:p>
            <a:pPr latinLnBrk="0" eaLnBrk="1"/>
            <a:r>
              <a:rPr sz="1400">
                <a:solidFill>
                  <a:srgbClr val="262626"/>
                </a:solidFill>
              </a:rPr>
              <a:t>Names coming from the playlist (channels, categories, titles) are shown as the provider declares them and are not translated.</a:t>
            </a:r>
          </a:p>
        </p:txBody>
      </p:sp>
    </p:spTree>
    <p:extLst>
      <p:ext uri="{BB962C8B-B14F-4D97-AF65-F5344CB8AC3E}">
        <p14:creationId xmlns:p14="http://schemas.microsoft.com/office/powerpoint/2010/main" val="319006148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Trial and In-app Purchase</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A new installation runs a free 7-day trial with every feature, counted on the TV — no account, voucher or payment needed. The reviewer tests the app inside this trial.</a:t>
            </a:r>
          </a:p>
          <a:p>
            <a:pPr latinLnBrk="0" eaLnBrk="1"/>
            <a:r>
              <a:rPr sz="1300">
                <a:solidFill>
                  <a:srgbClr val="262626"/>
                </a:solidFill>
              </a:rPr>
              <a:t>1. Settings › "Portal &amp; license" shows the license status ("Trial"), its end date and the offer: R$35 for 12 months, for one TV, one-time purchase by Pix or card, no automatic renewal.</a:t>
            </a:r>
          </a:p>
          <a:p>
            <a:pPr latinLnBrk="0" eaLnBrk="1"/>
            <a:r>
              <a:rPr sz="1300">
                <a:solidFill>
                  <a:srgbClr val="262626"/>
                </a:solidFill>
              </a:rPr>
              <a:t>2. "Buy license" opens "Buy a license with Pix": price, QR code and copy-and-paste code for the bank app. Paying by card is done on the website portal.ccplaytv.com (same TV ID and key).</a:t>
            </a:r>
          </a:p>
          <a:p>
            <a:pPr latinLnBrk="0" eaLnBrk="1"/>
            <a:r>
              <a:rPr sz="1300">
                <a:solidFill>
                  <a:srgbClr val="262626"/>
                </a:solidFill>
              </a:rPr>
              <a:t>3. After paying, "Refresh" brings the license to the TV; the status changes to "Active" with the new end date.</a:t>
            </a:r>
          </a:p>
          <a:p>
            <a:pPr latinLnBrk="0" eaLnBrk="1"/>
            <a:r>
              <a:rPr sz="1300">
                <a:solidFill>
                  <a:srgbClr val="262626"/>
                </a:solidFill>
              </a:rPr>
              <a:t>4. When the trial (or the license) ends, opening a list shows "A license is required to open the list", with "Buy license", "Refresh" and "Back". Lists, favorites and settings are kept; the app itself keeps opening.</a:t>
            </a:r>
          </a:p>
          <a:p>
            <a:pPr latinLnBrk="0" eaLnBrk="1"/>
            <a:r>
              <a:rPr sz="1300">
                <a:solidFill>
                  <a:srgbClr val="262626"/>
                </a:solidFill>
              </a:rPr>
              <a:t>Payment is processed by Mercado Pago (Brazil). Nothing is charged automatically.</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Web Portal (Phone or PC)</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Optional: the TV works completely without the portal.</a:t>
            </a:r>
          </a:p>
          <a:p>
            <a:pPr latinLnBrk="0" eaLnBrk="1"/>
            <a:r>
              <a:rPr sz="1300">
                <a:solidFill>
                  <a:srgbClr val="262626"/>
                </a:solidFill>
              </a:rPr>
              <a:t>1. "Add list" › "On the website" (or Settings › "Portal &amp; license") shows a QR code, the device ID and the device key.</a:t>
            </a:r>
          </a:p>
          <a:p>
            <a:pPr latinLnBrk="0" eaLnBrk="1"/>
            <a:r>
              <a:rPr sz="1300">
                <a:solidFill>
                  <a:srgbClr val="262626"/>
                </a:solidFill>
              </a:rPr>
              <a:t>2. On the phone, scan the QR code (or open portal.ccplaytv.com and type the ID and key). The website shows "Lists", "License" and "Settings" for this TV.</a:t>
            </a:r>
          </a:p>
          <a:p>
            <a:pPr latinLnBrk="0" eaLnBrk="1"/>
            <a:r>
              <a:rPr sz="1300">
                <a:solidFill>
                  <a:srgbClr val="262626"/>
                </a:solidFill>
              </a:rPr>
              <a:t>3. Add or edit a list on the website, then press "Reload"/"Refresh" on the TV: the list is imported on the TV.</a:t>
            </a:r>
          </a:p>
          <a:p>
            <a:pPr latinLnBrk="0" eaLnBrk="1"/>
            <a:r>
              <a:rPr sz="1300">
                <a:solidFill>
                  <a:srgbClr val="262626"/>
                </a:solidFill>
              </a:rPr>
              <a:t>4. The TV talks to the portal only when the user presses one of these buttons; nothing runs in the background.</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Watch Live TV</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On Home, move to "Live TV" in the top bar and press OK.</a:t>
            </a:r>
          </a:p>
          <a:p>
            <a:pPr latinLnBrk="0" eaLnBrk="1"/>
            <a:r>
              <a:rPr sz="1300">
                <a:solidFill>
                  <a:srgbClr val="262626"/>
                </a:solidFill>
              </a:rPr>
              <a:t>2. The left column lists the categories of the playlist. Select one and press OK to see its channels.</a:t>
            </a:r>
          </a:p>
          <a:p>
            <a:pPr latinLnBrk="0" eaLnBrk="1"/>
            <a:r>
              <a:rPr sz="1300">
                <a:solidFill>
                  <a:srgbClr val="262626"/>
                </a:solidFill>
              </a:rPr>
              <a:t>3. Each channel shows its number, logo and the current program when the playlist provides a guide (EPG). The right side shows the program now and the next ones.</a:t>
            </a:r>
          </a:p>
          <a:p>
            <a:pPr latinLnBrk="0" eaLnBrk="1"/>
            <a:r>
              <a:rPr sz="1300">
                <a:solidFill>
                  <a:srgbClr val="262626"/>
                </a:solidFill>
              </a:rPr>
              <a:t>4. Press OK on a channel to watch it in full screen. CHANNEL UP/DOWN switches to the previous/next channel.</a:t>
            </a:r>
          </a:p>
          <a:p>
            <a:pPr latinLnBrk="0" eaLnBrk="1"/>
            <a:r>
              <a:rPr sz="1300">
                <a:solidFill>
                  <a:srgbClr val="262626"/>
                </a:solidFill>
              </a:rPr>
              <a:t>5. RETURN closes the player and goes back to the channel, with the focus where it was.</a:t>
            </a:r>
          </a:p>
          <a:p>
            <a:pPr latinLnBrk="0" eaLnBrk="1"/>
            <a:r>
              <a:rPr sz="1300">
                <a:solidFill>
                  <a:srgbClr val="262626"/>
                </a:solidFill>
              </a:rPr>
              <a:t>Moving the focus never starts playback: only OK does.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Browse and Play Movies</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On Home, select "Movies" in the top bar. Rows such as "Recently added" and "Top rated" are shown; LEFT opens the category list (★ Favorites, ↺ History, All and the categories of the playlist).</a:t>
            </a:r>
          </a:p>
          <a:p>
            <a:pPr latinLnBrk="0" eaLnBrk="1"/>
            <a:r>
              <a:rPr sz="1300">
                <a:solidFill>
                  <a:srgbClr val="262626"/>
                </a:solidFill>
              </a:rPr>
              <a:t>2. Press OK on a category or on "See all" to open the grid. The grid has "Search" and "Sort".</a:t>
            </a:r>
          </a:p>
          <a:p>
            <a:pPr latinLnBrk="0" eaLnBrk="1"/>
            <a:r>
              <a:rPr sz="1300">
                <a:solidFill>
                  <a:srgbClr val="262626"/>
                </a:solidFill>
              </a:rPr>
              <a:t>3. Press OK on a title to open its details: "Watch", "+ My List", "Similar", "Mark as watched", and the tabs Details / Cast / Similar.</a:t>
            </a:r>
          </a:p>
          <a:p>
            <a:pPr latinLnBrk="0" eaLnBrk="1"/>
            <a:r>
              <a:rPr sz="1300">
                <a:solidFill>
                  <a:srgbClr val="262626"/>
                </a:solidFill>
              </a:rPr>
              <a:t>4. "Watch" starts the movie. In the player, OK shows the controls: -10s, Pause, +10s, Audio, Quality, Aspect and Info.</a:t>
            </a:r>
          </a:p>
          <a:p>
            <a:pPr latinLnBrk="0" eaLnBrk="1"/>
            <a:r>
              <a:rPr sz="1300">
                <a:solidFill>
                  <a:srgbClr val="262626"/>
                </a:solidFill>
              </a:rPr>
              <a:t>5. A movie stopped in the middle shows "Resume from …" the next time.</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Watch a Series Episode</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On Home, select "Series" in the top bar and open a category, as for movies.</a:t>
            </a:r>
          </a:p>
          <a:p>
            <a:pPr latinLnBrk="0" eaLnBrk="1"/>
            <a:r>
              <a:rPr sz="1300">
                <a:solidFill>
                  <a:srgbClr val="262626"/>
                </a:solidFill>
              </a:rPr>
              <a:t>2. Press OK on a series. The details show the synopsis, "Watch T1:E1" (or "Continue" with progress), the season selector and the episode list.</a:t>
            </a:r>
          </a:p>
          <a:p>
            <a:pPr latinLnBrk="0" eaLnBrk="1"/>
            <a:r>
              <a:rPr sz="1300">
                <a:solidFill>
                  <a:srgbClr val="262626"/>
                </a:solidFill>
              </a:rPr>
              <a:t>3. Choose a season, move to an episode and press OK to play it.</a:t>
            </a:r>
          </a:p>
          <a:p>
            <a:pPr latinLnBrk="0" eaLnBrk="1"/>
            <a:r>
              <a:rPr sz="1300">
                <a:solidFill>
                  <a:srgbClr val="262626"/>
                </a:solidFill>
              </a:rPr>
              <a:t>4. RETURN goes back to the episode list, with the focus on the episode just watched.</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Favorites, My List and History</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Hold OK, or press the YELLOW key, on a channel, movie, series or radio station to add it to Favorites (the same gesture removes it).</a:t>
            </a:r>
          </a:p>
          <a:p>
            <a:pPr latinLnBrk="0" eaLnBrk="1"/>
            <a:r>
              <a:rPr sz="1300">
                <a:solidFill>
                  <a:srgbClr val="262626"/>
                </a:solidFill>
              </a:rPr>
              <a:t>2. Favorites appear in the "★ Favorites" category of each section and in the Home rows "My List" and "Favorite channels". Titles in progress appear in "Continue watching".</a:t>
            </a:r>
          </a:p>
          <a:p>
            <a:pPr latinLnBrk="0" eaLnBrk="1"/>
            <a:r>
              <a:rPr sz="1300">
                <a:solidFill>
                  <a:srgbClr val="262626"/>
                </a:solidFill>
              </a:rPr>
              <a:t>3. Titles already played appear in "↺ History". In the History grid, the RED key removes the focused title; the details screen also has "Remove from history".</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Listen to Radio</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Select "Radio" in the top bar. The left column has "★ Favorites", "Most played worldwide" and the countries.</a:t>
            </a:r>
          </a:p>
          <a:p>
            <a:pPr latinLnBrk="0" eaLnBrk="1"/>
            <a:r>
              <a:rPr sz="1300">
                <a:solidFill>
                  <a:srgbClr val="262626"/>
                </a:solidFill>
              </a:rPr>
              <a:t>2. Select a country to list its stations (public directory Radio Browser; it does not use the playlist).</a:t>
            </a:r>
          </a:p>
          <a:p>
            <a:pPr latinLnBrk="0" eaLnBrk="1"/>
            <a:r>
              <a:rPr sz="1300">
                <a:solidFill>
                  <a:srgbClr val="262626"/>
                </a:solidFill>
              </a:rPr>
              <a:t>3. Press OK on a station to play it; the "Now playing" bar shows it. STOP stops the radio.</a:t>
            </a:r>
          </a:p>
          <a:p>
            <a:pPr latinLnBrk="0" eaLnBrk="1"/>
            <a:r>
              <a:rPr sz="1300">
                <a:solidFill>
                  <a:srgbClr val="262626"/>
                </a:solidFill>
              </a:rPr>
              <a:t>4. Hold OK or press YELLOW to keep the station in Favorites.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 – Manage Lists, Categories and Parental Control</a:t>
            </a:r>
          </a:p>
        </p:txBody>
      </p:sp>
      <p:sp>
        <p:nvSpPr>
          <p:cNvPr id="3" name="Content Placeholder 2"/>
          <p:cNvSpPr>
            <a:spLocks noGrp="1"/>
          </p:cNvSpPr>
          <p:nvPr>
            <p:ph idx="1"/>
          </p:nvPr>
        </p:nvSpPr>
        <p:spPr>
          <a:xfrm>
            <a:off x="457200" y="1600200"/>
            <a:ext cx="8229600" cy="4663440"/>
          </a:xfrm>
        </p:spPr>
        <p:txBody>
          <a:bodyPr/>
          <a:lstStyle/>
          <a:p>
            <a:pPr latinLnBrk="0" eaLnBrk="1"/>
            <a:r>
              <a:rPr sz="1300">
                <a:solidFill>
                  <a:srgbClr val="262626"/>
                </a:solidFill>
              </a:rPr>
              <a:t>1. On "Select or Add your list", press DOWN on a list card: Resync, Edit, Delete and Configure.</a:t>
            </a:r>
          </a:p>
          <a:p>
            <a:pPr latinLnBrk="0" eaLnBrk="1"/>
            <a:r>
              <a:rPr sz="1300">
                <a:solidFill>
                  <a:srgbClr val="262626"/>
                </a:solidFill>
              </a:rPr>
              <a:t>2. "Configure" opens the settings of that list: Account &amp; list, EPG, Categories &amp; parental control, History.</a:t>
            </a:r>
          </a:p>
          <a:p>
            <a:pPr latinLnBrk="0" eaLnBrk="1"/>
            <a:r>
              <a:rPr sz="1300">
                <a:solidFill>
                  <a:srgbClr val="262626"/>
                </a:solidFill>
              </a:rPr>
              <a:t>3. In "Categories &amp; parental control", categories can be hidden or locked with a PIN. Opening a locked category asks for the PIN (number keys or the on-screen keypad).</a:t>
            </a:r>
          </a:p>
          <a:p>
            <a:pPr latinLnBrk="0" eaLnBrk="1"/>
            <a:r>
              <a:rPr sz="1300">
                <a:solidFill>
                  <a:srgbClr val="262626"/>
                </a:solidFill>
              </a:rPr>
              <a:t>4. "Settings" (bottom right of the list screen, or the gear in the top bar) has: Integrations (optional TMDB key of the user, for synopses and images), Playlists, Playback, Accessibility (including Language), About &amp; credits, Portal &amp; license and Backup (encrypted backup of favorites, history and progress).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12</a:t>
            </a:fld>
            <a:endParaRPr lang="pl-PL"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Select or Add your list</a:t>
            </a:r>
          </a:p>
        </p:txBody>
      </p:sp>
      <p:pic>
        <p:nvPicPr>
          <p:cNvPr id="8" name="Picture 7" descr="ui_01_lists.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085833" y="330193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857959" y="330193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990958" y="463248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880206" y="463248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List card (one per playlist). OK opens the list; DOWN shows Resync, Edit, Delete and Configure.</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"Add list": opens the playlist form.</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Settings for all lists.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"Refresh": brings lists changed on the web portal.</a:t>
                      </a:r>
                    </a:p>
                  </a:txBody>
                  <a:tcPr/>
                </a:tc>
                <a:extLst>
                  <a:ext uri="{0D108BD9-81ED-4DB2-BD59-A6C34878D82A}">
                    <a16:rowId xmlns:a16="http://schemas.microsoft.com/office/drawing/2014/main" val="3928309716"/>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RETURN on this screen shows the "Exit CCPlayTV?" confirmation.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Exit confirmation</a:t>
            </a:r>
          </a:p>
        </p:txBody>
      </p:sp>
      <p:pic>
        <p:nvPicPr>
          <p:cNvPr id="8" name="Picture 7" descr="ui_02_exit.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3343752" y="330193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706893" y="330193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"Cancel": closes the dialog (default focus).</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"Exit": closes the application.</a:t>
                      </a:r>
                    </a:p>
                  </a:txBody>
                  <a:tcPr/>
                </a:tc>
                <a:extLst>
                  <a:ext uri="{0D108BD9-81ED-4DB2-BD59-A6C34878D82A}">
                    <a16:rowId xmlns:a16="http://schemas.microsoft.com/office/drawing/2014/main" val="1328630216"/>
                  </a:ext>
                </a:extLst>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Connect your playlist › On the website</a:t>
            </a:r>
          </a:p>
        </p:txBody>
      </p:sp>
      <p:pic>
        <p:nvPicPr>
          <p:cNvPr id="8" name="Picture 7" descr="ui_03a_add_site.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5673662" y="286326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28233" y="367960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088101" y="342104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673662" y="381614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315975"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Tabs: On the website (default), Xtream Codes, M3U list.</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QR code: opens the web portal for this TV on the phone.</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Portal address.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Device ID and device key, to sign in on the website.</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"Reload": imports lists added on the website. "Back": returns.</a:t>
                      </a:r>
                    </a:p>
                  </a:txBody>
                  <a:tcPr/>
                </a:tc>
                <a:extLst>
                  <a:ext uri="{0D108BD9-81ED-4DB2-BD59-A6C34878D82A}">
                    <a16:rowId xmlns:a16="http://schemas.microsoft.com/office/drawing/2014/main" val="2037391808"/>
                  </a:ext>
                </a:extLst>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Connect your playlist › Xtream Codes</a:t>
            </a:r>
          </a:p>
        </p:txBody>
      </p:sp>
      <p:pic>
        <p:nvPicPr>
          <p:cNvPr id="8" name="Picture 7" descr="ui_03_add_list.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5673662" y="286326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673662" y="316539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961907" y="400788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337305" y="423738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185602" y="446398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Type of list: Xtream Codes or M3U list (M3U asks for the list URL).</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Playlist fields. OK on a field opens the on-screen keyboard.</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"Hide data": masks or shows the typed values.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"Back": returns without saving.</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"Connect and sync": checks the list and imports it on the TV.</a:t>
                      </a:r>
                    </a:p>
                  </a:txBody>
                  <a:tcPr/>
                </a:tc>
                <a:extLst>
                  <a:ext uri="{0D108BD9-81ED-4DB2-BD59-A6C34878D82A}">
                    <a16:rowId xmlns:a16="http://schemas.microsoft.com/office/drawing/2014/main" val="2037391808"/>
                  </a:ext>
                </a:extLst>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Home</a:t>
            </a:r>
          </a:p>
        </p:txBody>
      </p:sp>
      <p:pic>
        <p:nvPicPr>
          <p:cNvPr id="8" name="Picture 7" descr="ui_05_home.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3117153" y="188133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816651" y="204692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246609" y="204692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185244" y="209050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998679" y="380742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156193" y="404855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374077" y="465572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7</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Top bar: Home, Live TV, Movies, Series and Radio.</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Active list: OK returns to the list selection.</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Settings.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Catalog status (last update of the list).</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Shortcuts to Live TV and Movies.</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Rows: Continue watching, My List, Favorite channels, Movies added, Series added.</a:t>
                      </a:r>
                    </a:p>
                  </a:txBody>
                  <a:tcPr/>
                </a:tc>
                <a:extLst>
                  <a:ext uri="{0D108BD9-81ED-4DB2-BD59-A6C34878D82A}">
                    <a16:rowId xmlns:a16="http://schemas.microsoft.com/office/drawing/2014/main" val="3419888650"/>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7</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Key guide of the current screen.</a:t>
                      </a:r>
                    </a:p>
                  </a:txBody>
                  <a:tcPr/>
                </a:tc>
                <a:extLst>
                  <a:ext uri="{0D108BD9-81ED-4DB2-BD59-A6C34878D82A}">
                    <a16:rowId xmlns:a16="http://schemas.microsoft.com/office/drawing/2014/main" val="3432369760"/>
                  </a:ext>
                </a:extLst>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Live TV</a:t>
            </a:r>
          </a:p>
        </p:txBody>
      </p:sp>
      <p:pic>
        <p:nvPicPr>
          <p:cNvPr id="8" name="Picture 7" descr="ui_06_live.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851155" y="194233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071307" y="194524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071307" y="2590182"/>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245615" y="290974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152651" y="404274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637807" y="465572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Current category and number of channels.</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Search this category and Full guide.</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Channel list: number, logo, name and program now (when the list has a guide).</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Focused channel: program now, time and progress.</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Next programs.</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Key guide.</a:t>
                      </a:r>
                    </a:p>
                  </a:txBody>
                  <a:tcPr/>
                </a:tc>
                <a:extLst>
                  <a:ext uri="{0D108BD9-81ED-4DB2-BD59-A6C34878D82A}">
                    <a16:rowId xmlns:a16="http://schemas.microsoft.com/office/drawing/2014/main" val="3419888650"/>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OK on a channel plays it in full screen; hold OK or YELLOW adds it to Favorites.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Live TV player</a:t>
            </a:r>
          </a:p>
        </p:txBody>
      </p:sp>
      <p:pic>
        <p:nvPicPr>
          <p:cNvPr id="8" name="Picture 7" descr="ui_07_live_player.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882474" y="198301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Channel banner: LIVE, number, logo, name and current program with progress.</a:t>
                      </a:r>
                    </a:p>
                  </a:txBody>
                  <a:tcPr/>
                </a:tc>
                <a:extLst>
                  <a:ext uri="{0D108BD9-81ED-4DB2-BD59-A6C34878D82A}">
                    <a16:rowId xmlns:a16="http://schemas.microsoft.com/office/drawing/2014/main" val="3432369760"/>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CHANNEL UP/DOWN switches channel. No seek bar on live channels: controls follow what the stream supports.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Movies (Series has the same layout)</a:t>
            </a:r>
          </a:p>
        </p:txBody>
      </p:sp>
      <p:pic>
        <p:nvPicPr>
          <p:cNvPr id="8" name="Picture 7" descr="ui_08_movies.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390871" y="188133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90920" y="195105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591962" y="211664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926051" y="345300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252419" y="212245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Top bar with the current section.</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Category list: ★ Favorites, ↺ History, All and the categories of the playlist.</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Rows: Recently added, Top rated and others.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Focused title with rating.</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"See all": opens the grid of the row.</a:t>
                      </a:r>
                    </a:p>
                  </a:txBody>
                  <a:tcPr/>
                </a:tc>
                <a:extLst>
                  <a:ext uri="{0D108BD9-81ED-4DB2-BD59-A6C34878D82A}">
                    <a16:rowId xmlns:a16="http://schemas.microsoft.com/office/drawing/2014/main" val="2037391808"/>
                  </a:ext>
                </a:extLst>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Category grid</a:t>
            </a:r>
          </a:p>
        </p:txBody>
      </p:sp>
      <p:pic>
        <p:nvPicPr>
          <p:cNvPr id="8" name="Picture 7" descr="ui_09_category.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795321" y="189004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270487" y="17830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214653" y="17830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245615" y="370865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Section, category and number of titles.</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"Search" in this category.</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"Sort": source order, A–Z, year, recently added, rating.</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Grid of titles. OK opens the details.</a:t>
                      </a:r>
                    </a:p>
                  </a:txBody>
                  <a:tcPr/>
                </a:tc>
                <a:extLst>
                  <a:ext uri="{0D108BD9-81ED-4DB2-BD59-A6C34878D82A}">
                    <a16:rowId xmlns:a16="http://schemas.microsoft.com/office/drawing/2014/main" val="3928309716"/>
                  </a:ext>
                </a:extLst>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Movie details</a:t>
            </a:r>
          </a:p>
        </p:txBody>
      </p:sp>
      <p:pic>
        <p:nvPicPr>
          <p:cNvPr id="8" name="Picture 7" descr="ui_10_movie_detail.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583247" y="254660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600677" y="289231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589057" y="3412332"/>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495456" y="359826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771443" y="359826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050335" y="359826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329227" y="359826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7</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504808" y="396140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8</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Title, year, duration and rating.</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Category and genres.</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"Watch" (or "Resume from …").</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 My List".</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Trailer (available with a TMDB key).</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"Similar" titles.</a:t>
                      </a:r>
                    </a:p>
                  </a:txBody>
                  <a:tcPr/>
                </a:tc>
                <a:extLst>
                  <a:ext uri="{0D108BD9-81ED-4DB2-BD59-A6C34878D82A}">
                    <a16:rowId xmlns:a16="http://schemas.microsoft.com/office/drawing/2014/main" val="3419888650"/>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7</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"Mark as watched".</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8</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Tabs: Details, Cast, Similar.</a:t>
                      </a:r>
                    </a:p>
                  </a:txBody>
                  <a:tcPr/>
                </a:tc>
                <a:extLst>
                  <a:ext uri="{0D108BD9-81ED-4DB2-BD59-A6C34878D82A}">
                    <a16:rowId xmlns:a16="http://schemas.microsoft.com/office/drawing/2014/main" val="1328630216"/>
                  </a:ext>
                </a:extLst>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Movie / episode player</a:t>
            </a:r>
          </a:p>
        </p:txBody>
      </p:sp>
      <p:pic>
        <p:nvPicPr>
          <p:cNvPr id="8" name="Picture 7" descr="ui_11_movie_player.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170719" y="194814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838898" y="412989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216564"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117153"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747565"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122326"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Title.</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Position, progress and duration.</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-10s, Pause/Play, +10s.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Audio and Quality (enabled when the stream has options).</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Aspect: Fit, Fill, Original, Zoom.</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Info about the title.</a:t>
                      </a:r>
                    </a:p>
                  </a:txBody>
                  <a:tcPr/>
                </a:tc>
                <a:extLst>
                  <a:ext uri="{0D108BD9-81ED-4DB2-BD59-A6C34878D82A}">
                    <a16:rowId xmlns:a16="http://schemas.microsoft.com/office/drawing/2014/main" val="3419888650"/>
                  </a:ext>
                </a:extLst>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Series details</a:t>
            </a:r>
          </a:p>
        </p:txBody>
      </p:sp>
      <p:pic>
        <p:nvPicPr>
          <p:cNvPr id="8" name="Picture 7" descr="ui_12_series_detail.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986422" y="233162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120695" y="374351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713340" y="333098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271124" y="333098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604219" y="416476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071307" y="4330352"/>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129410" y="470459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7</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Title, year, seasons and rating.</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"Watch T1:E1" (or "Continue" an episode in progress).</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 My List".</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"Similar" titles.</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Season selector.</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Tabs: Similar, Cast, Details.</a:t>
                      </a:r>
                    </a:p>
                  </a:txBody>
                  <a:tcPr/>
                </a:tc>
                <a:extLst>
                  <a:ext uri="{0D108BD9-81ED-4DB2-BD59-A6C34878D82A}">
                    <a16:rowId xmlns:a16="http://schemas.microsoft.com/office/drawing/2014/main" val="3419888650"/>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7</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Episode list. OK plays the episode.</a:t>
                      </a:r>
                    </a:p>
                  </a:txBody>
                  <a:tcPr/>
                </a:tc>
                <a:extLst>
                  <a:ext uri="{0D108BD9-81ED-4DB2-BD59-A6C34878D82A}">
                    <a16:rowId xmlns:a16="http://schemas.microsoft.com/office/drawing/2014/main" val="3432369760"/>
                  </a:ext>
                </a:extLst>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Radio</a:t>
            </a:r>
          </a:p>
        </p:txBody>
      </p:sp>
      <p:pic>
        <p:nvPicPr>
          <p:cNvPr id="8" name="Picture 7" descr="ui_13_radio.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170719" y="198010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083565" y="234905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955103" y="2279334"/>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390871" y="465572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"Now playing" bar.</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 Favorites, Most played worldwide and countries.</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Stations of the selected country. OK plays.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Key guide.</a:t>
                      </a:r>
                    </a:p>
                  </a:txBody>
                  <a:tcPr/>
                </a:tc>
                <a:extLst>
                  <a:ext uri="{0D108BD9-81ED-4DB2-BD59-A6C34878D82A}">
                    <a16:rowId xmlns:a16="http://schemas.microsoft.com/office/drawing/2014/main" val="3928309716"/>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Stations come from the public Radio Browser directory; STOP stops the radio.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Settings</a:t>
            </a:r>
          </a:p>
        </p:txBody>
      </p:sp>
      <p:pic>
        <p:nvPicPr>
          <p:cNvPr id="8" name="Picture 7" descr="ui_04_settings.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1560006" y="230257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318243" y="267733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289192" y="303757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Tabs: Integrations, Playlists, Playback, Accessibility, About &amp; credits, Portal &amp; license, Backup.</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 playlist: type, last sync, guide (EPG). "Configure" opens its settings.</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"Add list".</a:t>
                      </a:r>
                    </a:p>
                  </a:txBody>
                  <a:tcPr/>
                </a:tc>
                <a:extLst>
                  <a:ext uri="{0D108BD9-81ED-4DB2-BD59-A6C34878D82A}">
                    <a16:rowId xmlns:a16="http://schemas.microsoft.com/office/drawing/2014/main" val="3379408515"/>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Integrations: optional TMDB key of the user. Accessibility: Reduce motion and Language.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Settings › Playback</a:t>
            </a:r>
          </a:p>
        </p:txBody>
      </p:sp>
      <p:pic>
        <p:nvPicPr>
          <p:cNvPr id="8" name="Picture 7" descr="ui_04b_playback.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826640" y="273253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826640" y="300271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826640" y="327288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826640" y="354306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Default aspect.</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Default quality.</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Audio language.</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Subtitles.</a:t>
                      </a:r>
                    </a:p>
                  </a:txBody>
                  <a:tcPr/>
                </a:tc>
                <a:extLst>
                  <a:ext uri="{0D108BD9-81ED-4DB2-BD59-A6C34878D82A}">
                    <a16:rowId xmlns:a16="http://schemas.microsoft.com/office/drawing/2014/main" val="3928309716"/>
                  </a:ext>
                </a:extLst>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Settings › Portal &amp; license</a:t>
            </a:r>
          </a:p>
        </p:txBody>
      </p:sp>
      <p:pic>
        <p:nvPicPr>
          <p:cNvPr id="8" name="Picture 7" descr="ui_04c_portal.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783063" y="279644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560006" y="331065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441253" y="3031761"/>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325047" y="3522727"/>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2318243" y="4173475"/>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Access the portal: QR code, portal address, device ID and device key.</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Portal &amp; license and Backup tabs.</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License status ("Trial" or "Active"), end date and the offer: R$35 for 12 months.</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"Buy license" (Pix on the TV) and "Refresh" (brings the license after paying).</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"Advanced": recovery code, new key and Unlink.</a:t>
                      </a:r>
                    </a:p>
                  </a:txBody>
                  <a:tcPr/>
                </a:tc>
                <a:extLst>
                  <a:ext uri="{0D108BD9-81ED-4DB2-BD59-A6C34878D82A}">
                    <a16:rowId xmlns:a16="http://schemas.microsoft.com/office/drawing/2014/main" val="2037391808"/>
                  </a:ext>
                </a:extLst>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Buy a license with Pix</a:t>
            </a:r>
          </a:p>
        </p:txBody>
      </p:sp>
      <p:pic>
        <p:nvPicPr>
          <p:cNvPr id="8" name="Picture 7" descr="ui_14_pix.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328233" y="322930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192049" y="2595992"/>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5673662" y="342685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4104895" y="3659268"/>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639081" y="42896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345026" y="4089226"/>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6</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Pix QR code for the bank app.</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Price and terms: R$35.00, 12 months, one TV, no automatic renewal.</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Pix copy-and-paste code.</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Card payment: on the website.</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"Refresh": checks the payment and activates the license.</a:t>
                      </a:r>
                    </a:p>
                  </a:txBody>
                  <a:tcPr/>
                </a:tc>
                <a:extLst>
                  <a:ext uri="{0D108BD9-81ED-4DB2-BD59-A6C34878D82A}">
                    <a16:rowId xmlns:a16="http://schemas.microsoft.com/office/drawing/2014/main" val="2037391808"/>
                  </a:ext>
                </a:extLst>
              </a:tr>
              <a:tr h="28581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6</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"Back": returns without paying.</a:t>
                      </a:r>
                    </a:p>
                  </a:txBody>
                  <a:tcPr/>
                </a:tc>
                <a:extLst>
                  <a:ext uri="{0D108BD9-81ED-4DB2-BD59-A6C34878D82A}">
                    <a16:rowId xmlns:a16="http://schemas.microsoft.com/office/drawing/2014/main" val="3419888650"/>
                  </a:ext>
                </a:extLst>
              </a:tr>
            </a:tbl>
          </a:graphicData>
        </a:graphic>
      </p:graphicFrame>
      <p:sp>
        <p:nvSpPr>
          <p:cNvPr id="10" name="TextBox 9"/>
          <p:cNvSpPr txBox="1"/>
          <p:nvPr/>
        </p:nvSpPr>
        <p:spPr>
          <a:xfrm>
            <a:off x="320040" y="5030343"/>
            <a:ext cx="5577840" cy="731520"/>
          </a:xfrm>
          <a:prstGeom prst="rect">
            <a:avLst/>
          </a:prstGeom>
          <a:noFill/>
        </p:spPr>
        <p:txBody>
          <a:bodyPr wrap="square">
            <a:spAutoFit/>
          </a:bodyPr>
          <a:lstStyle/>
          <a:p>
            <a:pPr latinLnBrk="0" eaLnBrk="1"/>
            <a:r>
              <a:rPr sz="1000">
                <a:solidFill>
                  <a:srgbClr val="262626"/>
                </a:solidFill>
              </a:rPr>
              <a:t>Payment processed by Mercado Pago. Screenshot with a fictional Pix code.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Menus and Functions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16</a:t>
            </a:fld>
            <a:endParaRPr lang="pl-PL" dirty="0"/>
          </a:p>
        </p:txBody>
      </p:sp>
      <p:sp>
        <p:nvSpPr>
          <p:cNvPr id="7" name="제목 1"/>
          <p:cNvSpPr txBox="1">
            <a:spLocks/>
          </p:cNvSpPr>
          <p:nvPr/>
        </p:nvSpPr>
        <p:spPr>
          <a:xfrm>
            <a:off x="2123728" y="980728"/>
            <a:ext cx="6563072" cy="615603"/>
          </a:xfrm>
          <a:prstGeom prst="rect">
            <a:avLst/>
          </a:prstGeom>
        </p:spPr>
        <p:txBody>
          <a:bodyPr vert="horz" lIns="91440" tIns="45720" rIns="91440" bIns="45720" rtlCol="0" anchor="ctr">
            <a:noAutofit/>
          </a:bodyPr>
          <a:lstStyle>
            <a:lvl1pPr algn="r" rtl="0" eaLnBrk="1" latinLnBrk="1" hangingPunct="1">
              <a:spcBef>
                <a:spcPct val="0"/>
              </a:spcBef>
              <a:buNone/>
              <a:defRPr kumimoji="0" sz="2800" b="0" kern="1200">
                <a:ln>
                  <a:noFill/>
                </a:ln>
                <a:solidFill>
                  <a:srgbClr val="374971"/>
                </a:solidFill>
                <a:effectLst/>
                <a:latin typeface="+mj-lt"/>
                <a:ea typeface="+mj-ea"/>
                <a:cs typeface="+mj-cs"/>
              </a:defRPr>
            </a:lvl1pPr>
          </a:lstStyle>
          <a:p>
            <a:pPr latinLnBrk="0" eaLnBrk="1"/>
            <a:r>
              <a:rPr>
                <a:solidFill>
                  <a:srgbClr val="34497A"/>
                </a:solidFill>
              </a:rPr>
              <a:t>License required (after the trial)</a:t>
            </a:r>
          </a:p>
        </p:txBody>
      </p:sp>
      <p:pic>
        <p:nvPicPr>
          <p:cNvPr id="8" name="Picture 7" descr="ui_15_license_gate.jpg"/>
          <p:cNvPicPr>
            <a:picLocks noChangeAspect="1"/>
          </p:cNvPicPr>
          <p:nvPr/>
        </p:nvPicPr>
        <p:blipFill>
          <a:blip r:embed="rId2"/>
          <a:stretch>
            <a:fillRect/>
          </a:stretch>
        </p:blipFill>
        <p:spPr>
          <a:xfrm>
            <a:off x="320040" y="1783080"/>
            <a:ext cx="5577840" cy="3137535"/>
          </a:xfrm>
          <a:prstGeom prst="rect">
            <a:avLst/>
          </a:prstGeom>
        </p:spPr>
      </p:pic>
      <p:sp>
        <p:nvSpPr>
          <p:cNvPr id="9" name="Oval 8">
            <a:extLst>
              <a:ext uri="{FF2B5EF4-FFF2-40B4-BE49-F238E27FC236}">
                <a16:creationId xmlns:a16="http://schemas.microsoft.com/office/drawing/2014/main" id="{8E984AB7-EF75-44A4-AB87-B372E5B32EB0}"/>
              </a:ext>
            </a:extLst>
          </p:cNvPr>
          <p:cNvSpPr/>
          <p:nvPr/>
        </p:nvSpPr>
        <p:spPr>
          <a:xfrm>
            <a:off x="2478025" y="2386823"/>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1</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328233" y="3461719"/>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2</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702994" y="42896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3</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228821" y="42896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4</a:t>
            </a:r>
            <a:endParaRPr lang="en-US" dirty="0"/>
          </a:p>
        </p:txBody>
      </p:sp>
      <p:sp>
        <p:nvSpPr>
          <p:cNvPr id="9" name="Oval 8">
            <a:extLst>
              <a:ext uri="{FF2B5EF4-FFF2-40B4-BE49-F238E27FC236}">
                <a16:creationId xmlns:a16="http://schemas.microsoft.com/office/drawing/2014/main" id="{8E984AB7-EF75-44A4-AB87-B372E5B32EB0}"/>
              </a:ext>
            </a:extLst>
          </p:cNvPr>
          <p:cNvSpPr/>
          <p:nvPr/>
        </p:nvSpPr>
        <p:spPr>
          <a:xfrm>
            <a:off x="1652969" y="4289680"/>
            <a:ext cx="216024" cy="216024"/>
          </a:xfrm>
          <a:prstGeom prst="ellipse">
            <a:avLst/>
          </a:prstGeom>
          <a:solidFill>
            <a:srgbClr val="94C46F"/>
          </a:solidFill>
          <a:ln>
            <a:solidFill>
              <a:srgbClr val="94C46F"/>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a:t>5</a:t>
            </a:r>
            <a:endParaRPr lang="en-US" dirty="0"/>
          </a:p>
        </p:txBody>
      </p:sp>
      <p:graphicFrame>
        <p:nvGraphicFramePr>
          <p:cNvPr id="4" name="Table 3">
            <a:extLst>
              <a:ext uri="{FF2B5EF4-FFF2-40B4-BE49-F238E27FC236}">
                <a16:creationId xmlns:a16="http://schemas.microsoft.com/office/drawing/2014/main" id="{ECD141EA-C744-4381-9930-2699EC03EE67}"/>
              </a:ext>
            </a:extLst>
          </p:cNvPr>
          <p:cNvGraphicFramePr>
            <a:graphicFrameLocks noGrp="1"/>
          </p:cNvGraphicFramePr>
          <p:nvPr>
            <p:extLst>
              <p:ext uri="{D42A27DB-BD31-4B8C-83A1-F6EECF244321}">
                <p14:modId xmlns:p14="http://schemas.microsoft.com/office/powerpoint/2010/main" val="1663403640"/>
              </p:ext>
            </p:extLst>
          </p:nvPr>
        </p:nvGraphicFramePr>
        <p:xfrm>
          <a:off x="6035040" y="1783080"/>
          <a:ext cx="2788920" cy="206889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78765453"/>
                    </a:ext>
                  </a:extLst>
                </a:gridCol>
                <a:gridCol w="2377440">
                  <a:extLst>
                    <a:ext uri="{9D8B030D-6E8A-4147-A177-3AD203B41FA5}">
                      <a16:colId xmlns:a16="http://schemas.microsoft.com/office/drawing/2014/main" val="3768374184"/>
                    </a:ext>
                  </a:extLst>
                </a:gridCol>
              </a:tblGrid>
              <a:tr h="240965">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No.</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900" b="1">
                          <a:solidFill>
                            <a:srgbClr val="FFFFFF"/>
                          </a:solidFill>
                          <a:latin typeface="Arial"/>
                        </a:rPr>
                        <a:t>Description</a:t>
                      </a:r>
                    </a:p>
                  </a:txBody>
                  <a:tcPr/>
                </a:tc>
                <a:extLst>
                  <a:ext uri="{0D108BD9-81ED-4DB2-BD59-A6C34878D82A}">
                    <a16:rowId xmlns:a16="http://schemas.microsoft.com/office/drawing/2014/main" val="1433768151"/>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1</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Shown when a list is opened after the 7-day trial (or the license) ends.</a:t>
                      </a:r>
                    </a:p>
                  </a:txBody>
                  <a:tcPr/>
                </a:tc>
                <a:extLst>
                  <a:ext uri="{0D108BD9-81ED-4DB2-BD59-A6C34878D82A}">
                    <a16:rowId xmlns:a16="http://schemas.microsoft.com/office/drawing/2014/main" val="3432369760"/>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2</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QR code, device ID and key: pay by card on the website.</a:t>
                      </a:r>
                    </a:p>
                  </a:txBody>
                  <a:tcPr/>
                </a:tc>
                <a:extLst>
                  <a:ext uri="{0D108BD9-81ED-4DB2-BD59-A6C34878D82A}">
                    <a16:rowId xmlns:a16="http://schemas.microsoft.com/office/drawing/2014/main" val="1328630216"/>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3</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marL="0" marR="0" lvl="0" indent="0" algn="l" defTabSz="914400" rtl="0" eaLnBrk="1" fontAlgn="b" latinLnBrk="0" hangingPunct="1">
                        <a:lnSpc>
                          <a:spcPct val="100000"/>
                        </a:lnSpc>
                        <a:spcBef>
                          <a:spcPts val="0"/>
                        </a:spcBef>
                        <a:spcAft>
                          <a:spcPts val="0"/>
                        </a:spcAft>
                        <a:buClrTx/>
                        <a:buSzTx/>
                        <a:buFontTx/>
                        <a:buNone/>
                        <a:tabLst/>
                        <a:defRPr/>
                      </a:pPr>
                      <a:r>
                        <a:rPr sz="850" b="0">
                          <a:solidFill>
                            <a:srgbClr val="262626"/>
                          </a:solidFill>
                          <a:latin typeface="Arial"/>
                        </a:rPr>
                        <a:t>"Buy license": Pix on the TV.</a:t>
                      </a:r>
                    </a:p>
                  </a:txBody>
                  <a:tcPr/>
                </a:tc>
                <a:extLst>
                  <a:ext uri="{0D108BD9-81ED-4DB2-BD59-A6C34878D82A}">
                    <a16:rowId xmlns:a16="http://schemas.microsoft.com/office/drawing/2014/main" val="3379408515"/>
                  </a:ext>
                </a:extLst>
              </a:tr>
              <a:tr h="226790">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4</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"Refresh": brings a license paid on the website.</a:t>
                      </a:r>
                    </a:p>
                  </a:txBody>
                  <a:tcPr/>
                </a:tc>
                <a:extLst>
                  <a:ext uri="{0D108BD9-81ED-4DB2-BD59-A6C34878D82A}">
                    <a16:rowId xmlns:a16="http://schemas.microsoft.com/office/drawing/2014/main" val="3928309716"/>
                  </a:ext>
                </a:extLst>
              </a:tr>
              <a:tr h="368534">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5</a:t>
                      </a:r>
                    </a:p>
                  </a:txBody>
                  <a:tcPr/>
                </a:tc>
                <a:tc>
                  <a:txBody>
                    <a:bodyPr/>
                    <a:lstStyle>
                      <a:lvl1pPr marL="0" algn="l" rtl="0" eaLnBrk="1" latinLnBrk="1" hangingPunct="1">
                        <a:defRPr kumimoji="0" kern="1200">
                          <a:solidFill>
                            <a:schemeClr val="tx1"/>
                          </a:solidFill>
                          <a:latin typeface="Calibri" panose="020F0502020204030204"/>
                        </a:defRPr>
                      </a:lvl1pPr>
                      <a:lvl2pPr marL="457200" algn="l" rtl="0" eaLnBrk="1" latinLnBrk="1" hangingPunct="1">
                        <a:defRPr kumimoji="0" kern="1200">
                          <a:solidFill>
                            <a:schemeClr val="tx1"/>
                          </a:solidFill>
                          <a:latin typeface="Calibri" panose="020F0502020204030204"/>
                        </a:defRPr>
                      </a:lvl2pPr>
                      <a:lvl3pPr marL="914400" algn="l" rtl="0" eaLnBrk="1" latinLnBrk="1" hangingPunct="1">
                        <a:defRPr kumimoji="0" kern="1200">
                          <a:solidFill>
                            <a:schemeClr val="tx1"/>
                          </a:solidFill>
                          <a:latin typeface="Calibri" panose="020F0502020204030204"/>
                        </a:defRPr>
                      </a:lvl3pPr>
                      <a:lvl4pPr marL="1371600" algn="l" rtl="0" eaLnBrk="1" latinLnBrk="1" hangingPunct="1">
                        <a:defRPr kumimoji="0" kern="1200">
                          <a:solidFill>
                            <a:schemeClr val="tx1"/>
                          </a:solidFill>
                          <a:latin typeface="Calibri" panose="020F0502020204030204"/>
                        </a:defRPr>
                      </a:lvl4pPr>
                      <a:lvl5pPr marL="1828800" algn="l" rtl="0" eaLnBrk="1" latinLnBrk="1" hangingPunct="1">
                        <a:defRPr kumimoji="0" kern="1200">
                          <a:solidFill>
                            <a:schemeClr val="tx1"/>
                          </a:solidFill>
                          <a:latin typeface="Calibri" panose="020F0502020204030204"/>
                        </a:defRPr>
                      </a:lvl5pPr>
                      <a:lvl6pPr marL="2286000" algn="l" rtl="0" eaLnBrk="1" latinLnBrk="1" hangingPunct="1">
                        <a:defRPr kumimoji="0" kern="1200">
                          <a:solidFill>
                            <a:schemeClr val="tx1"/>
                          </a:solidFill>
                          <a:latin typeface="Calibri" panose="020F0502020204030204"/>
                        </a:defRPr>
                      </a:lvl6pPr>
                      <a:lvl7pPr marL="2743200" algn="l" rtl="0" eaLnBrk="1" latinLnBrk="1" hangingPunct="1">
                        <a:defRPr kumimoji="0" kern="1200">
                          <a:solidFill>
                            <a:schemeClr val="tx1"/>
                          </a:solidFill>
                          <a:latin typeface="Calibri" panose="020F0502020204030204"/>
                        </a:defRPr>
                      </a:lvl7pPr>
                      <a:lvl8pPr marL="3200400" algn="l" rtl="0" eaLnBrk="1" latinLnBrk="1" hangingPunct="1">
                        <a:defRPr kumimoji="0" kern="1200">
                          <a:solidFill>
                            <a:schemeClr val="tx1"/>
                          </a:solidFill>
                          <a:latin typeface="Calibri" panose="020F0502020204030204"/>
                        </a:defRPr>
                      </a:lvl8pPr>
                      <a:lvl9pPr marL="3657600" algn="l" rtl="0" eaLnBrk="1" latinLnBrk="1" hangingPunct="1">
                        <a:defRPr kumimoji="0" kern="1200">
                          <a:solidFill>
                            <a:schemeClr val="tx1"/>
                          </a:solidFill>
                          <a:latin typeface="Calibri" panose="020F0502020204030204"/>
                        </a:defRPr>
                      </a:lvl9pPr>
                    </a:lstStyle>
                    <a:p>
                      <a:pPr algn="l" fontAlgn="b" latinLnBrk="0" eaLnBrk="1"/>
                      <a:r>
                        <a:rPr sz="850" b="0">
                          <a:solidFill>
                            <a:srgbClr val="262626"/>
                          </a:solidFill>
                          <a:latin typeface="Arial"/>
                        </a:rPr>
                        <a:t>"Back": returns to the list selection; lists and favorites are kept.</a:t>
                      </a:r>
                    </a:p>
                  </a:txBody>
                  <a:tcPr/>
                </a:tc>
                <a:extLst>
                  <a:ext uri="{0D108BD9-81ED-4DB2-BD59-A6C34878D82A}">
                    <a16:rowId xmlns:a16="http://schemas.microsoft.com/office/drawing/2014/main" val="2037391808"/>
                  </a:ext>
                </a:extLst>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Remote Control Keys</a:t>
            </a:r>
          </a:p>
        </p:txBody>
      </p:sp>
      <p:sp>
        <p:nvSpPr>
          <p:cNvPr id="3" name="Slide Number Placeholder 2"/>
          <p:cNvSpPr>
            <a:spLocks noGrp="1"/>
          </p:cNvSpPr>
          <p:nvPr>
            <p:ph type="sldNum" sz="quarter" idx="4"/>
          </p:nvPr>
        </p:nvSpPr>
        <p:spPr/>
        <p:txBody>
          <a:bodyPr/>
          <a:lstStyle/>
          <a:p>
            <a:fld id="{42AF35AD-09C2-4EBD-8934-72FD947EF48F}" type="slidenum">
              <a:rPr lang="pl-PL" smtClean="0"/>
              <a:pPr/>
              <a:t>19</a:t>
            </a:fld>
            <a:endParaRPr lang="pl-PL" dirty="0"/>
          </a:p>
        </p:txBody>
      </p:sp>
      <p:graphicFrame>
        <p:nvGraphicFramePr>
          <p:cNvPr id="9" name="Table 8"/>
          <p:cNvGraphicFramePr>
            <a:graphicFrameLocks noGrp="1"/>
          </p:cNvGraphicFramePr>
          <p:nvPr>
            <p:extLst>
              <p:ext uri="{D42A27DB-BD31-4B8C-83A1-F6EECF244321}">
                <p14:modId xmlns:p14="http://schemas.microsoft.com/office/powerpoint/2010/main" val="1005736217"/>
              </p:ext>
            </p:extLst>
          </p:nvPr>
        </p:nvGraphicFramePr>
        <p:xfrm>
          <a:off x="606388" y="1600200"/>
          <a:ext cx="7909560" cy="3173712"/>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70840">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Key</a:t>
                      </a:r>
                      <a:endParaRPr lang="ko-KR" altLang="en-US" sz="1400" dirty="0"/>
                    </a:p>
                  </a:txBody>
                  <a:tcPr marL="108000" anchor="ctr"/>
                </a:tc>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Action</a:t>
                      </a:r>
                      <a:endParaRPr lang="ko-KR" altLang="en-US" sz="1400" dirty="0"/>
                    </a:p>
                  </a:txBody>
                  <a:tcPr marL="108000" anchor="ctr"/>
                </a:tc>
                <a:tc>
                  <a:txBody>
                    <a:bodyPr/>
                    <a:lstStyle>
                      <a:lvl1pPr marL="0" algn="l" rtl="0" eaLnBrk="1" latinLnBrk="1" hangingPunct="1">
                        <a:defRPr kumimoji="0" b="1" kern="1200">
                          <a:solidFill>
                            <a:schemeClr val="lt1"/>
                          </a:solidFill>
                          <a:latin typeface="Arial" panose="020B0604020202020204"/>
                        </a:defRPr>
                      </a:lvl1pPr>
                      <a:lvl2pPr marL="457200" algn="l" rtl="0" eaLnBrk="1" latinLnBrk="1" hangingPunct="1">
                        <a:defRPr kumimoji="0" b="1" kern="1200">
                          <a:solidFill>
                            <a:schemeClr val="lt1"/>
                          </a:solidFill>
                          <a:latin typeface="Arial" panose="020B0604020202020204"/>
                        </a:defRPr>
                      </a:lvl2pPr>
                      <a:lvl3pPr marL="914400" algn="l" rtl="0" eaLnBrk="1" latinLnBrk="1" hangingPunct="1">
                        <a:defRPr kumimoji="0" b="1" kern="1200">
                          <a:solidFill>
                            <a:schemeClr val="lt1"/>
                          </a:solidFill>
                          <a:latin typeface="Arial" panose="020B0604020202020204"/>
                        </a:defRPr>
                      </a:lvl3pPr>
                      <a:lvl4pPr marL="1371600" algn="l" rtl="0" eaLnBrk="1" latinLnBrk="1" hangingPunct="1">
                        <a:defRPr kumimoji="0" b="1" kern="1200">
                          <a:solidFill>
                            <a:schemeClr val="lt1"/>
                          </a:solidFill>
                          <a:latin typeface="Arial" panose="020B0604020202020204"/>
                        </a:defRPr>
                      </a:lvl4pPr>
                      <a:lvl5pPr marL="1828800" algn="l" rtl="0" eaLnBrk="1" latinLnBrk="1" hangingPunct="1">
                        <a:defRPr kumimoji="0" b="1" kern="1200">
                          <a:solidFill>
                            <a:schemeClr val="lt1"/>
                          </a:solidFill>
                          <a:latin typeface="Arial" panose="020B0604020202020204"/>
                        </a:defRPr>
                      </a:lvl5pPr>
                      <a:lvl6pPr marL="2286000" algn="l" rtl="0" eaLnBrk="1" latinLnBrk="1" hangingPunct="1">
                        <a:defRPr kumimoji="0" b="1" kern="1200">
                          <a:solidFill>
                            <a:schemeClr val="lt1"/>
                          </a:solidFill>
                          <a:latin typeface="Arial" panose="020B0604020202020204"/>
                        </a:defRPr>
                      </a:lvl6pPr>
                      <a:lvl7pPr marL="2743200" algn="l" rtl="0" eaLnBrk="1" latinLnBrk="1" hangingPunct="1">
                        <a:defRPr kumimoji="0" b="1" kern="1200">
                          <a:solidFill>
                            <a:schemeClr val="lt1"/>
                          </a:solidFill>
                          <a:latin typeface="Arial" panose="020B0604020202020204"/>
                        </a:defRPr>
                      </a:lvl7pPr>
                      <a:lvl8pPr marL="3200400" algn="l" rtl="0" eaLnBrk="1" latinLnBrk="1" hangingPunct="1">
                        <a:defRPr kumimoji="0" b="1" kern="1200">
                          <a:solidFill>
                            <a:schemeClr val="lt1"/>
                          </a:solidFill>
                          <a:latin typeface="Arial" panose="020B0604020202020204"/>
                        </a:defRPr>
                      </a:lvl8pPr>
                      <a:lvl9pPr marL="3657600" algn="l" rtl="0" eaLnBrk="1" latinLnBrk="1" hangingPunct="1">
                        <a:defRPr kumimoji="0" b="1" kern="1200">
                          <a:solidFill>
                            <a:schemeClr val="lt1"/>
                          </a:solidFill>
                          <a:latin typeface="Arial" panose="020B0604020202020204"/>
                        </a:defRPr>
                      </a:lvl9pPr>
                    </a:lstStyle>
                    <a:p>
                      <a:pPr latinLnBrk="0" eaLnBrk="1"/>
                      <a:r>
                        <a:rPr sz="1000" b="1">
                          <a:solidFill>
                            <a:srgbClr val="FFFFFF"/>
                          </a:solidFill>
                          <a:latin typeface="Arial"/>
                        </a:rPr>
                        <a:t>Remarks</a:t>
                      </a:r>
                      <a:endParaRPr lang="ko-KR" altLang="en-US" sz="1400" dirty="0"/>
                    </a:p>
                  </a:txBody>
                  <a:tcPr marL="108000" anchor="ctr"/>
                </a:tc>
                <a:extLst>
                  <a:ext uri="{0D108BD9-81ED-4DB2-BD59-A6C34878D82A}">
                    <a16:rowId xmlns:a16="http://schemas.microsoft.com/office/drawing/2014/main" val="10000"/>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RED</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Remove the focused title from "↺ History".</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History grid only</a:t>
                      </a:r>
                    </a:p>
                  </a:txBody>
                  <a:tcPr marL="108000" marR="36000" marT="36000" marB="36000" anchor="ctr" horzOverflow="overflow"/>
                </a:tc>
                <a:extLst>
                  <a:ext uri="{0D108BD9-81ED-4DB2-BD59-A6C34878D82A}">
                    <a16:rowId xmlns:a16="http://schemas.microsoft.com/office/drawing/2014/main" val="10001"/>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PLAY / PAUSE</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Play or pause the movie or episode.</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Player</a:t>
                      </a:r>
                    </a:p>
                  </a:txBody>
                  <a:tcPr marL="108000" marR="36000" marT="36000" marB="36000" anchor="ctr" horzOverflow="overflow"/>
                </a:tc>
                <a:extLst>
                  <a:ext uri="{0D108BD9-81ED-4DB2-BD59-A6C34878D82A}">
                    <a16:rowId xmlns:a16="http://schemas.microsoft.com/office/drawing/2014/main" val="10002"/>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STOP</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Close the player. In Radio, stop the station.</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Player, Radio</a:t>
                      </a:r>
                      <a:endParaRPr lang="ko-KR" altLang="en-US" dirty="0"/>
                    </a:p>
                  </a:txBody>
                  <a:tcPr marL="108000" anchor="ctr"/>
                </a:tc>
                <a:extLst>
                  <a:ext uri="{0D108BD9-81ED-4DB2-BD59-A6C34878D82A}">
                    <a16:rowId xmlns:a16="http://schemas.microsoft.com/office/drawing/2014/main" val="10003"/>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REW / FF</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Jump 10 seconds back / forward.</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Only when the stream can seek</a:t>
                      </a:r>
                      <a:endParaRPr lang="ko-KR" altLang="en-US" dirty="0"/>
                    </a:p>
                  </a:txBody>
                  <a:tcPr marL="108000" anchor="ctr"/>
                </a:tc>
                <a:extLst>
                  <a:ext uri="{0D108BD9-81ED-4DB2-BD59-A6C34878D82A}">
                    <a16:rowId xmlns:a16="http://schemas.microsoft.com/office/drawing/2014/main" val="10004"/>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CHANNEL UP / DOWN</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Live TV player: previous / next channel. Live TV guide: previous / next page.</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Live TV</a:t>
                      </a:r>
                      <a:endParaRPr lang="ko-KR" altLang="en-US" dirty="0"/>
                    </a:p>
                  </a:txBody>
                  <a:tcPr marL="108000" anchor="ctr"/>
                </a:tc>
                <a:extLst>
                  <a:ext uri="{0D108BD9-81ED-4DB2-BD59-A6C34878D82A}">
                    <a16:rowId xmlns:a16="http://schemas.microsoft.com/office/drawing/2014/main" val="10005"/>
                  </a:ext>
                </a:extLst>
              </a:tr>
              <a:tr h="370840">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0 – 9</a:t>
                      </a: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sz="950" b="0">
                          <a:solidFill>
                            <a:srgbClr val="262626"/>
                          </a:solidFill>
                          <a:latin typeface="Arial"/>
                        </a:rPr>
                        <a:t>Type the parental-control PIN.</a:t>
                      </a:r>
                      <a:endParaRPr kumimoji="1" lang="ko-KR" altLang="en-US" sz="1200" b="0" i="0" u="none" strike="noStrike" cap="none" normalizeH="0" baseline="0" dirty="0">
                        <a:ln>
                          <a:noFill/>
                        </a:ln>
                        <a:solidFill>
                          <a:srgbClr val="94C46F"/>
                        </a:solidFill>
                        <a:effectLst/>
                        <a:latin typeface="+mj-lt"/>
                        <a:ea typeface="돋움" pitchFamily="50" charset="-127"/>
                      </a:endParaRPr>
                    </a:p>
                  </a:txBody>
                  <a:tcPr marL="108000" marR="36000" marT="36000" marB="36000" anchor="ctr" horzOverflow="overflow"/>
                </a:tc>
                <a:tc>
                  <a:txBody>
                    <a:bodyPr/>
                    <a:lstStyle>
                      <a:lvl1pPr marL="0" algn="l" rtl="0" eaLnBrk="1" latinLnBrk="1" hangingPunct="1">
                        <a:defRPr kumimoji="0" kern="1200">
                          <a:solidFill>
                            <a:schemeClr val="dk1"/>
                          </a:solidFill>
                          <a:latin typeface="Arial" panose="020B0604020202020204"/>
                        </a:defRPr>
                      </a:lvl1pPr>
                      <a:lvl2pPr marL="457200" algn="l" rtl="0" eaLnBrk="1" latinLnBrk="1" hangingPunct="1">
                        <a:defRPr kumimoji="0" kern="1200">
                          <a:solidFill>
                            <a:schemeClr val="dk1"/>
                          </a:solidFill>
                          <a:latin typeface="Arial" panose="020B0604020202020204"/>
                        </a:defRPr>
                      </a:lvl2pPr>
                      <a:lvl3pPr marL="914400" algn="l" rtl="0" eaLnBrk="1" latinLnBrk="1" hangingPunct="1">
                        <a:defRPr kumimoji="0" kern="1200">
                          <a:solidFill>
                            <a:schemeClr val="dk1"/>
                          </a:solidFill>
                          <a:latin typeface="Arial" panose="020B0604020202020204"/>
                        </a:defRPr>
                      </a:lvl3pPr>
                      <a:lvl4pPr marL="1371600" algn="l" rtl="0" eaLnBrk="1" latinLnBrk="1" hangingPunct="1">
                        <a:defRPr kumimoji="0" kern="1200">
                          <a:solidFill>
                            <a:schemeClr val="dk1"/>
                          </a:solidFill>
                          <a:latin typeface="Arial" panose="020B0604020202020204"/>
                        </a:defRPr>
                      </a:lvl4pPr>
                      <a:lvl5pPr marL="1828800" algn="l" rtl="0" eaLnBrk="1" latinLnBrk="1" hangingPunct="1">
                        <a:defRPr kumimoji="0" kern="1200">
                          <a:solidFill>
                            <a:schemeClr val="dk1"/>
                          </a:solidFill>
                          <a:latin typeface="Arial" panose="020B0604020202020204"/>
                        </a:defRPr>
                      </a:lvl5pPr>
                      <a:lvl6pPr marL="2286000" algn="l" rtl="0" eaLnBrk="1" latinLnBrk="1" hangingPunct="1">
                        <a:defRPr kumimoji="0" kern="1200">
                          <a:solidFill>
                            <a:schemeClr val="dk1"/>
                          </a:solidFill>
                          <a:latin typeface="Arial" panose="020B0604020202020204"/>
                        </a:defRPr>
                      </a:lvl6pPr>
                      <a:lvl7pPr marL="2743200" algn="l" rtl="0" eaLnBrk="1" latinLnBrk="1" hangingPunct="1">
                        <a:defRPr kumimoji="0" kern="1200">
                          <a:solidFill>
                            <a:schemeClr val="dk1"/>
                          </a:solidFill>
                          <a:latin typeface="Arial" panose="020B0604020202020204"/>
                        </a:defRPr>
                      </a:lvl7pPr>
                      <a:lvl8pPr marL="3200400" algn="l" rtl="0" eaLnBrk="1" latinLnBrk="1" hangingPunct="1">
                        <a:defRPr kumimoji="0" kern="1200">
                          <a:solidFill>
                            <a:schemeClr val="dk1"/>
                          </a:solidFill>
                          <a:latin typeface="Arial" panose="020B0604020202020204"/>
                        </a:defRPr>
                      </a:lvl8pPr>
                      <a:lvl9pPr marL="3657600" algn="l" rtl="0" eaLnBrk="1" latinLnBrk="1" hangingPunct="1">
                        <a:defRPr kumimoji="0" kern="1200">
                          <a:solidFill>
                            <a:schemeClr val="dk1"/>
                          </a:solidFill>
                          <a:latin typeface="Arial" panose="020B0604020202020204"/>
                        </a:defRPr>
                      </a:lvl9pPr>
                    </a:lstStyle>
                    <a:p>
                      <a:pPr latinLnBrk="0" eaLnBrk="1"/>
                      <a:r>
                        <a:rPr sz="950" b="0">
                          <a:solidFill>
                            <a:srgbClr val="262626"/>
                          </a:solidFill>
                          <a:latin typeface="Arial"/>
                        </a:rPr>
                        <a:t>PIN prompt</a:t>
                      </a:r>
                      <a:endParaRPr lang="ko-KR" altLang="en-US" dirty="0"/>
                    </a:p>
                  </a:txBody>
                  <a:tcPr marL="108000" anchor="ctr"/>
                </a:tc>
                <a:extLst>
                  <a:ext uri="{0D108BD9-81ED-4DB2-BD59-A6C34878D82A}">
                    <a16:rowId xmlns:a16="http://schemas.microsoft.com/office/drawing/2014/main" val="10006"/>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흐름">
  <a:themeElements>
    <a:clrScheme name="Custom 3">
      <a:dk1>
        <a:sysClr val="windowText" lastClr="000000"/>
      </a:dk1>
      <a:lt1>
        <a:sysClr val="window" lastClr="FFFFFF"/>
      </a:lt1>
      <a:dk2>
        <a:srgbClr val="775F55"/>
      </a:dk2>
      <a:lt2>
        <a:srgbClr val="EBDDC3"/>
      </a:lt2>
      <a:accent1>
        <a:srgbClr val="94B6D2"/>
      </a:accent1>
      <a:accent2>
        <a:srgbClr val="DD8047"/>
      </a:accent2>
      <a:accent3>
        <a:srgbClr val="374971"/>
      </a:accent3>
      <a:accent4>
        <a:srgbClr val="D8B25C"/>
      </a:accent4>
      <a:accent5>
        <a:srgbClr val="3B3838"/>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흐름">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Language-Op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Remote-Key-map">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5.xml><?xml version="1.0" encoding="utf-8"?>
<a:theme xmlns:a="http://schemas.openxmlformats.org/drawingml/2006/main" name="Screen-Elemen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6.xml><?xml version="1.0" encoding="utf-8"?>
<a:theme xmlns:a="http://schemas.openxmlformats.org/drawingml/2006/main" name="UI-Structur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7.xml><?xml version="1.0" encoding="utf-8"?>
<a:theme xmlns:a="http://schemas.openxmlformats.org/drawingml/2006/main" name="Use-Cas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8.xml><?xml version="1.0" encoding="utf-8"?>
<a:theme xmlns:a="http://schemas.openxmlformats.org/drawingml/2006/main" name="Application Na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흐름">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4140</TotalTime>
  <Words>991</Words>
  <Application>Microsoft Office PowerPoint</Application>
  <PresentationFormat>On-screen Show (4:3)</PresentationFormat>
  <Paragraphs>222</Paragraphs>
  <Slides>21</Slides>
  <Notes>1</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21</vt:i4>
      </vt:variant>
    </vt:vector>
  </HeadingPairs>
  <TitlesOfParts>
    <vt:vector size="37" baseType="lpstr">
      <vt:lpstr>돋움</vt:lpstr>
      <vt:lpstr>굴림</vt:lpstr>
      <vt:lpstr>Arial</vt:lpstr>
      <vt:lpstr>Calibri</vt:lpstr>
      <vt:lpstr>Helvetica Neue</vt:lpstr>
      <vt:lpstr>Symbol</vt:lpstr>
      <vt:lpstr>Wingdings</vt:lpstr>
      <vt:lpstr>Wingdings 2</vt:lpstr>
      <vt:lpstr>흐름</vt:lpstr>
      <vt:lpstr>1_흐름</vt:lpstr>
      <vt:lpstr>Language-Option</vt:lpstr>
      <vt:lpstr>Remote-Key-map</vt:lpstr>
      <vt:lpstr>Screen-Element</vt:lpstr>
      <vt:lpstr>UI-Structure</vt:lpstr>
      <vt:lpstr>Use-Case</vt:lpstr>
      <vt:lpstr>Application Name</vt:lpstr>
      <vt:lpstr>Application UI Description Template </vt:lpstr>
      <vt:lpstr>PowerPoint Presentation</vt:lpstr>
      <vt:lpstr>Revision History</vt:lpstr>
      <vt:lpstr>Contents</vt:lpstr>
      <vt:lpstr>UI Structure</vt:lpstr>
      <vt:lpstr>UI Structure</vt:lpstr>
      <vt:lpstr>UI Structure</vt:lpstr>
      <vt:lpstr>UI Structure</vt:lpstr>
      <vt:lpstr>Contents</vt:lpstr>
      <vt:lpstr>Use Cases</vt:lpstr>
      <vt:lpstr>Use Cases – User Login</vt:lpstr>
      <vt:lpstr>Use Cases – Menu Browsing</vt:lpstr>
      <vt:lpstr>Use Cases – In-app Purchase</vt:lpstr>
      <vt:lpstr>Contents</vt:lpstr>
      <vt:lpstr>Menus and Functions</vt:lpstr>
      <vt:lpstr>Menus and Functions</vt:lpstr>
      <vt:lpstr>Menus and Functions</vt:lpstr>
      <vt:lpstr>Contents</vt:lpstr>
      <vt:lpstr>Remote Control Keys</vt:lpstr>
      <vt:lpstr>Contents</vt:lpstr>
      <vt:lpstr>Language Options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Windows 사용자</dc:creator>
  <cp:lastModifiedBy>Lau, Mildred</cp:lastModifiedBy>
  <cp:revision>190</cp:revision>
  <dcterms:created xsi:type="dcterms:W3CDTF">2012-04-25T04:15:24Z</dcterms:created>
  <dcterms:modified xsi:type="dcterms:W3CDTF">2018-04-10T10:11:11Z</dcterms:modified>
</cp:coreProperties>
</file>