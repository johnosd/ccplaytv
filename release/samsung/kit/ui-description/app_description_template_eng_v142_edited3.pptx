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Layouts/slideLayout10.xml" ContentType="application/vnd.openxmlformats-officedocument.presentationml.slideLayout+xml"/>
  <Override PartName="/ppt/theme/theme7.xml" ContentType="application/vnd.openxmlformats-officedocument.theme+xml"/>
  <Override PartName="/ppt/slideLayouts/slideLayout1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  <p:sldMasterId id="2147483775" r:id="rId2"/>
    <p:sldMasterId id="2147483779" r:id="rId3"/>
    <p:sldMasterId id="2147483781" r:id="rId4"/>
    <p:sldMasterId id="2147483783" r:id="rId5"/>
    <p:sldMasterId id="2147483785" r:id="rId6"/>
    <p:sldMasterId id="2147483787" r:id="rId7"/>
    <p:sldMasterId id="2147483777" r:id="rId8"/>
  </p:sldMasterIdLst>
  <p:notesMasterIdLst>
    <p:notesMasterId r:id="rId30"/>
  </p:notesMasterIdLst>
  <p:handoutMasterIdLst>
    <p:handoutMasterId r:id="rId31"/>
  </p:handoutMasterIdLst>
  <p:sldIdLst>
    <p:sldId id="288" r:id="rId9"/>
    <p:sldId id="290" r:id="rId10"/>
    <p:sldId id="257" r:id="rId11"/>
    <p:sldId id="258" r:id="rId12"/>
    <p:sldId id="261" r:id="rId13"/>
    <p:sldId id="292" r:id="rId14"/>
    <p:sldId id="293" r:id="rId15"/>
    <p:sldId id="294" r:id="rId16"/>
    <p:sldId id="304" r:id="rId17"/>
    <p:sldId id="295" r:id="rId18"/>
    <p:sldId id="296" r:id="rId19"/>
    <p:sldId id="297" r:id="rId20"/>
    <p:sldId id="298" r:id="rId21"/>
    <p:sldId id="305" r:id="rId22"/>
    <p:sldId id="299" r:id="rId23"/>
    <p:sldId id="300" r:id="rId24"/>
    <p:sldId id="301" r:id="rId25"/>
    <p:sldId id="306" r:id="rId26"/>
    <p:sldId id="302" r:id="rId27"/>
    <p:sldId id="307" r:id="rId28"/>
    <p:sldId id="303" r:id="rId2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C46F"/>
    <a:srgbClr val="E08B56"/>
    <a:srgbClr val="2B3957"/>
    <a:srgbClr val="374971"/>
    <a:srgbClr val="516BA5"/>
    <a:srgbClr val="3B3838"/>
    <a:srgbClr val="FFFFFF"/>
    <a:srgbClr val="82F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67" autoAdjust="0"/>
    <p:restoredTop sz="94660"/>
  </p:normalViewPr>
  <p:slideViewPr>
    <p:cSldViewPr>
      <p:cViewPr varScale="1">
        <p:scale>
          <a:sx n="72" d="100"/>
          <a:sy n="72" d="100"/>
        </p:scale>
        <p:origin x="11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26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4DAB93-CEFC-4FC9-839F-0BEB0EF2FF73}" type="datetimeFigureOut">
              <a:rPr lang="pl-PL" smtClean="0"/>
              <a:t>2018-04-10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31A94-3DF5-481E-B085-FF694E4069A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43475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A9AA8-DED1-45DB-B35B-C8925B19C961}" type="datetimeFigureOut">
              <a:rPr lang="pl-PL" smtClean="0"/>
              <a:t>2018-04-10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08FC8-769B-485C-8357-A074C463AB0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70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08FC8-769B-485C-8357-A074C463AB08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4591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/>
          <p:cNvCxnSpPr/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48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0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2521465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guage-O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385220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ote-Key-ma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3274597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/>
          <p:cNvCxnSpPr/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48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68103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-El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622471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/>
          <p:cNvCxnSpPr/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48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57320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-Stru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220182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/>
          <p:cNvCxnSpPr/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48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653556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-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Placeholder 3"/>
          <p:cNvSpPr>
            <a:spLocks noGrp="1"/>
          </p:cNvSpPr>
          <p:nvPr>
            <p:ph type="title"/>
          </p:nvPr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pl-PL" dirty="0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1104" y="6597352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2AF35AD-09C2-4EBD-8934-72FD947EF48F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내용 개체 틀 2"/>
          <p:cNvSpPr>
            <a:spLocks noGrp="1"/>
          </p:cNvSpPr>
          <p:nvPr>
            <p:ph idx="1" hasCustomPrompt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eaLnBrk="1" latinLnBrk="0" hangingPunct="1">
              <a:spcAft>
                <a:spcPts val="600"/>
              </a:spcAft>
              <a:defRPr/>
            </a:lvl1pPr>
            <a:lvl2pPr marL="640080" indent="-246888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2pPr>
            <a:lvl3pPr marL="914400" indent="-246888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3pPr>
            <a:lvl4pPr marL="1188720" indent="-210312" eaLnBrk="1" latinLnBrk="0" hangingPunct="1">
              <a:spcAft>
                <a:spcPts val="600"/>
              </a:spcAft>
              <a:buClr>
                <a:srgbClr val="374971"/>
              </a:buClr>
              <a:buFont typeface="Arial" panose="020B0604020202020204" pitchFamily="34" charset="0"/>
              <a:buChar char="−"/>
              <a:defRPr/>
            </a:lvl4pPr>
            <a:lvl5pPr marL="1463040" indent="-210312" eaLnBrk="1" latinLnBrk="0" hangingPunct="1">
              <a:spcAft>
                <a:spcPts val="600"/>
              </a:spcAft>
              <a:buClr>
                <a:srgbClr val="37497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 eaLnBrk="1" latinLnBrk="0" hangingPunct="1"/>
            <a:r>
              <a:rPr lang="pl-PL" altLang="ko-KR" dirty="0"/>
              <a:t>Sample text</a:t>
            </a:r>
          </a:p>
          <a:p>
            <a:pPr lvl="1" eaLnBrk="1" latinLnBrk="0" hangingPunct="1"/>
            <a:r>
              <a:rPr lang="pl-PL" altLang="ko-KR" dirty="0"/>
              <a:t>Sample text</a:t>
            </a:r>
          </a:p>
          <a:p>
            <a:pPr lvl="2" eaLnBrk="1" latinLnBrk="0" hangingPunct="1"/>
            <a:r>
              <a:rPr lang="pl-PL" altLang="ko-KR" dirty="0"/>
              <a:t>Sample text</a:t>
            </a:r>
          </a:p>
          <a:p>
            <a:pPr lvl="3" eaLnBrk="1" latinLnBrk="0" hangingPunct="1"/>
            <a:r>
              <a:rPr lang="pl-PL" altLang="ko-KR" dirty="0"/>
              <a:t>Sample text</a:t>
            </a:r>
          </a:p>
          <a:p>
            <a:pPr lvl="4" eaLnBrk="1" latinLnBrk="0" hangingPunct="1"/>
            <a:r>
              <a:rPr lang="pl-PL" altLang="ko-KR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1609317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ication Na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827584" y="2852936"/>
            <a:ext cx="7848872" cy="1008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pl-PL" dirty="0"/>
              <a:t>Application Name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827584" y="3933056"/>
            <a:ext cx="7848872" cy="576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/>
            </a:lvl1pPr>
          </a:lstStyle>
          <a:p>
            <a:pPr lvl="0"/>
            <a:r>
              <a:rPr lang="pl-PL" dirty="0"/>
              <a:t>CP Name</a:t>
            </a:r>
          </a:p>
        </p:txBody>
      </p:sp>
    </p:spTree>
    <p:extLst>
      <p:ext uri="{BB962C8B-B14F-4D97-AF65-F5344CB8AC3E}">
        <p14:creationId xmlns:p14="http://schemas.microsoft.com/office/powerpoint/2010/main" val="416915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0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Straight Connector 28"/>
          <p:cNvCxnSpPr/>
          <p:nvPr userDrawn="1"/>
        </p:nvCxnSpPr>
        <p:spPr>
          <a:xfrm>
            <a:off x="0" y="980728"/>
            <a:ext cx="8686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0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Straight Connector 28"/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4729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640"/>
            <a:ext cx="720000" cy="720000"/>
          </a:xfrm>
          <a:prstGeom prst="rect">
            <a:avLst/>
          </a:prstGeom>
        </p:spPr>
      </p:pic>
      <p:cxnSp>
        <p:nvCxnSpPr>
          <p:cNvPr id="9" name="Straight Connector 28">
            <a:extLst>
              <a:ext uri="{FF2B5EF4-FFF2-40B4-BE49-F238E27FC236}">
                <a16:creationId xmlns:a16="http://schemas.microsoft.com/office/drawing/2014/main" id="{6B2A45FA-DAC2-4EEA-AF36-44EDBBC7BD62}"/>
              </a:ext>
            </a:extLst>
          </p:cNvPr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60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640"/>
            <a:ext cx="720000" cy="720000"/>
          </a:xfrm>
          <a:prstGeom prst="rect">
            <a:avLst/>
          </a:prstGeom>
        </p:spPr>
      </p:pic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BA2A6B3F-FE04-4D54-9193-9E92A1BFCFCE}"/>
              </a:ext>
            </a:extLst>
          </p:cNvPr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8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91" r:id="rId2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640"/>
            <a:ext cx="720000" cy="720000"/>
          </a:xfrm>
          <a:prstGeom prst="rect">
            <a:avLst/>
          </a:prstGeom>
        </p:spPr>
      </p:pic>
      <p:cxnSp>
        <p:nvCxnSpPr>
          <p:cNvPr id="11" name="Straight Connector 28">
            <a:extLst>
              <a:ext uri="{FF2B5EF4-FFF2-40B4-BE49-F238E27FC236}">
                <a16:creationId xmlns:a16="http://schemas.microsoft.com/office/drawing/2014/main" id="{71B4FE1D-821F-4340-96D1-4274DD785B3D}"/>
              </a:ext>
            </a:extLst>
          </p:cNvPr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49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90" r:id="rId2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내용 개체 틀 2"/>
          <p:cNvSpPr txBox="1">
            <a:spLocks/>
          </p:cNvSpPr>
          <p:nvPr userDrawn="1"/>
        </p:nvSpPr>
        <p:spPr>
          <a:xfrm>
            <a:off x="457200" y="1848192"/>
            <a:ext cx="8229600" cy="438912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1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1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1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74971"/>
              </a:buClr>
              <a:buFont typeface="Wingdings" panose="05000000000000000000" pitchFamily="2" charset="2"/>
              <a:buChar char="§"/>
            </a:pPr>
            <a:endParaRPr lang="pl-PL" altLang="ko-KR" sz="1800" dirty="0">
              <a:solidFill>
                <a:srgbClr val="3B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8640"/>
            <a:ext cx="720000" cy="720000"/>
          </a:xfrm>
          <a:prstGeom prst="rect">
            <a:avLst/>
          </a:prstGeom>
        </p:spPr>
      </p:pic>
      <p:cxnSp>
        <p:nvCxnSpPr>
          <p:cNvPr id="10" name="Straight Connector 28">
            <a:extLst>
              <a:ext uri="{FF2B5EF4-FFF2-40B4-BE49-F238E27FC236}">
                <a16:creationId xmlns:a16="http://schemas.microsoft.com/office/drawing/2014/main" id="{662F044E-EF3E-4AF5-85CB-A1A10605001D}"/>
              </a:ext>
            </a:extLst>
          </p:cNvPr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47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9" r:id="rId2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8166" y="6617244"/>
            <a:ext cx="2057400" cy="1961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2AAE51A-D9A9-4328-8D90-B9EADBAC13AD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17" name="Title Placeholder 3"/>
          <p:cNvSpPr txBox="1">
            <a:spLocks/>
          </p:cNvSpPr>
          <p:nvPr userDrawn="1"/>
        </p:nvSpPr>
        <p:spPr>
          <a:xfrm>
            <a:off x="2123728" y="365125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sp>
        <p:nvSpPr>
          <p:cNvPr id="18" name="Picture Placeholder 3"/>
          <p:cNvSpPr txBox="1">
            <a:spLocks/>
          </p:cNvSpPr>
          <p:nvPr userDrawn="1"/>
        </p:nvSpPr>
        <p:spPr>
          <a:xfrm>
            <a:off x="457200" y="365125"/>
            <a:ext cx="1378496" cy="1378497"/>
          </a:xfrm>
          <a:prstGeom prst="rect">
            <a:avLst/>
          </a:prstGeom>
        </p:spPr>
        <p:txBody>
          <a:bodyPr/>
          <a:lstStyle>
            <a:lvl1pPr marL="0" indent="0" algn="l" rtl="0" eaLnBrk="1" latinLnBrk="1" hangingPunct="1">
              <a:spcBef>
                <a:spcPct val="20000"/>
              </a:spcBef>
              <a:buClr>
                <a:srgbClr val="374971"/>
              </a:buClr>
              <a:buSzPct val="95000"/>
              <a:buFont typeface="Wingdings" panose="05000000000000000000" pitchFamily="2" charset="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1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1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1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dirty="0"/>
          </a:p>
        </p:txBody>
      </p:sp>
      <p:sp>
        <p:nvSpPr>
          <p:cNvPr id="19" name="Title Placeholder 3"/>
          <p:cNvSpPr txBox="1">
            <a:spLocks/>
          </p:cNvSpPr>
          <p:nvPr userDrawn="1"/>
        </p:nvSpPr>
        <p:spPr>
          <a:xfrm>
            <a:off x="457200" y="365125"/>
            <a:ext cx="8229600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l-PL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08" y="188640"/>
            <a:ext cx="720000" cy="720000"/>
          </a:xfrm>
          <a:prstGeom prst="rect">
            <a:avLst/>
          </a:prstGeom>
        </p:spPr>
      </p:pic>
      <p:cxnSp>
        <p:nvCxnSpPr>
          <p:cNvPr id="9" name="Straight Connector 28">
            <a:extLst>
              <a:ext uri="{FF2B5EF4-FFF2-40B4-BE49-F238E27FC236}">
                <a16:creationId xmlns:a16="http://schemas.microsoft.com/office/drawing/2014/main" id="{E89D5A4C-7710-41A3-A521-5EF56C1D09CC}"/>
              </a:ext>
            </a:extLst>
          </p:cNvPr>
          <p:cNvCxnSpPr>
            <a:cxnSpLocks/>
          </p:cNvCxnSpPr>
          <p:nvPr userDrawn="1"/>
        </p:nvCxnSpPr>
        <p:spPr>
          <a:xfrm>
            <a:off x="457200" y="980728"/>
            <a:ext cx="82296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53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spcAft>
          <a:spcPts val="600"/>
        </a:spcAft>
        <a:buClr>
          <a:srgbClr val="374971"/>
        </a:buClr>
        <a:buSzPct val="95000"/>
        <a:buFont typeface="Wingdings" panose="05000000000000000000" pitchFamily="2" charset="2"/>
        <a:buChar char="§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spcAft>
          <a:spcPts val="600"/>
        </a:spcAft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spcAft>
          <a:spcPts val="600"/>
        </a:spcAft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749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6052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hf hdr="0" dt="0"/>
  <p:txStyles>
    <p:titleStyle>
      <a:lvl1pPr algn="r" rtl="0" eaLnBrk="1" latinLnBrk="1" hangingPunct="1">
        <a:spcBef>
          <a:spcPct val="0"/>
        </a:spcBef>
        <a:buNone/>
        <a:defRPr kumimoji="0" sz="2800" b="0" kern="1200">
          <a:ln>
            <a:noFill/>
          </a:ln>
          <a:solidFill>
            <a:srgbClr val="374971"/>
          </a:solidFill>
          <a:effectLst/>
          <a:latin typeface="+mj-lt"/>
          <a:ea typeface="+mj-ea"/>
          <a:cs typeface="+mj-cs"/>
        </a:defRPr>
      </a:lvl1pPr>
    </p:titleStyle>
    <p:bodyStyle>
      <a:lvl1pPr marL="285750" indent="-285750" algn="l" rtl="0" eaLnBrk="1" latinLnBrk="1" hangingPunct="1">
        <a:spcBef>
          <a:spcPct val="20000"/>
        </a:spcBef>
        <a:buClr>
          <a:srgbClr val="374971"/>
        </a:buClr>
        <a:buSzPct val="95000"/>
        <a:buFont typeface="Wingdings" panose="05000000000000000000" pitchFamily="2" charset="2"/>
        <a:buChar char="§"/>
        <a:defRPr kumimoji="0" sz="6000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1737360" indent="-210312" algn="l" rtl="0" eaLnBrk="1" latinLnBrk="1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1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1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1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Application UI Description Template </a:t>
            </a:r>
            <a:endParaRPr lang="pl-P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</a:t>
            </a:fld>
            <a:endParaRPr lang="pl-PL" dirty="0"/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solidFill>
                  <a:srgbClr val="3B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 and examples are set in </a:t>
            </a:r>
            <a:r>
              <a:rPr lang="en-US" altLang="ko-KR" dirty="0">
                <a:solidFill>
                  <a:srgbClr val="94C46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 text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ko-KR" dirty="0">
                <a:solidFill>
                  <a:srgbClr val="3B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information for all applicable items. If the application UI description is incomplete, the application can be rejected. </a:t>
            </a:r>
          </a:p>
          <a:p>
            <a:r>
              <a:rPr lang="en-US" altLang="ko-KR" dirty="0">
                <a:solidFill>
                  <a:srgbClr val="3B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submitting the description file, delete the green instructions and examples. You must also delete this slide, and any unused slides</a:t>
            </a:r>
            <a:r>
              <a:rPr lang="pl-PL" altLang="ko-KR" dirty="0">
                <a:solidFill>
                  <a:srgbClr val="3B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927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787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Revision History</a:t>
            </a:r>
            <a:endParaRPr lang="ko-KR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3</a:t>
            </a:fld>
            <a:endParaRPr lang="pl-PL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217924"/>
              </p:ext>
            </p:extLst>
          </p:nvPr>
        </p:nvGraphicFramePr>
        <p:xfrm>
          <a:off x="457200" y="1935163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Version</a:t>
                      </a:r>
                      <a:endParaRPr lang="ko-KR" altLang="en-US" sz="1400" dirty="0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Date</a:t>
                      </a:r>
                      <a:endParaRPr lang="ko-KR" altLang="en-US" sz="1400" dirty="0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Description</a:t>
                      </a:r>
                      <a:endParaRPr lang="ko-KR" altLang="en-US" sz="1400" dirty="0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Author</a:t>
                      </a:r>
                      <a:endParaRPr lang="ko-KR" altLang="en-US" sz="1400" dirty="0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Related App Version</a:t>
                      </a:r>
                      <a:endParaRPr lang="ko-KR" altLang="en-US" sz="1400" dirty="0"/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i="0" dirty="0">
                          <a:solidFill>
                            <a:srgbClr val="94C46F"/>
                          </a:solidFill>
                        </a:rPr>
                        <a:t>1.0</a:t>
                      </a:r>
                      <a:endParaRPr lang="ko-KR" altLang="en-US" sz="1400" i="0" dirty="0">
                        <a:solidFill>
                          <a:srgbClr val="94C46F"/>
                        </a:solidFill>
                      </a:endParaRP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i="0" dirty="0">
                          <a:solidFill>
                            <a:srgbClr val="94C46F"/>
                          </a:solidFill>
                        </a:rPr>
                        <a:t>2012.01.01</a:t>
                      </a:r>
                      <a:endParaRPr lang="ko-KR" altLang="en-US" sz="1400" i="0" dirty="0">
                        <a:solidFill>
                          <a:srgbClr val="94C46F"/>
                        </a:solidFill>
                      </a:endParaRP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sz="1400" i="0" dirty="0">
                          <a:solidFill>
                            <a:srgbClr val="94C46F"/>
                          </a:solidFill>
                        </a:rPr>
                        <a:t> Change description</a:t>
                      </a: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400" i="0">
                          <a:solidFill>
                            <a:srgbClr val="94C46F"/>
                          </a:solidFill>
                        </a:rPr>
                        <a:t>Author Name</a:t>
                      </a:r>
                      <a:endParaRPr lang="en-US" altLang="ko-KR" sz="1400" i="0" dirty="0">
                        <a:solidFill>
                          <a:srgbClr val="94C46F"/>
                        </a:solidFill>
                      </a:endParaRPr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0" dirty="0">
                          <a:solidFill>
                            <a:srgbClr val="94C46F"/>
                          </a:solidFill>
                        </a:rPr>
                        <a:t>1.0</a:t>
                      </a:r>
                      <a:endParaRPr lang="ko-KR" altLang="en-US" sz="1400" i="0" dirty="0">
                        <a:solidFill>
                          <a:srgbClr val="94C46F"/>
                        </a:solidFill>
                      </a:endParaRPr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 marL="108000" anchor="ctr"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4</a:t>
            </a:fld>
            <a:endParaRPr lang="pl-PL" dirty="0"/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27051" y="2501900"/>
            <a:ext cx="6997278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400" cap="none" baseline="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179388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35560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542925" indent="-18891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714375" indent="-16986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893763" indent="-179388" algn="l" rtl="0" eaLnBrk="1" fontAlgn="base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16287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0859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25431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 lvl="0" latinLnBrk="0">
              <a:buClr>
                <a:srgbClr val="000000"/>
              </a:buClr>
              <a:defRPr/>
            </a:pPr>
            <a:r>
              <a:rPr lang="en-US" b="1" kern="0" dirty="0">
                <a:solidFill>
                  <a:srgbClr val="374971"/>
                </a:solidFill>
                <a:cs typeface="Arial"/>
              </a:rPr>
              <a:t>UI Structure</a:t>
            </a:r>
            <a:endParaRPr lang="pl-PL" b="1" kern="0" dirty="0">
              <a:solidFill>
                <a:srgbClr val="374971"/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rgbClr val="FFFFFF">
                    <a:lumMod val="75000"/>
                  </a:srgbClr>
                </a:solidFill>
                <a:cs typeface="Arial"/>
              </a:rPr>
              <a:t>Use Cases</a:t>
            </a:r>
            <a:endParaRPr lang="pl-PL" kern="0" dirty="0">
              <a:solidFill>
                <a:srgbClr val="FFFFFF">
                  <a:lumMod val="75000"/>
                </a:srgbClr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cs typeface="Arial"/>
              </a:rPr>
              <a:t>Menus and Functions</a:t>
            </a:r>
            <a:endParaRPr lang="pl-PL" kern="0" dirty="0"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cs typeface="Arial"/>
              </a:rPr>
              <a:t>Remote Control Keys</a:t>
            </a:r>
            <a:endParaRPr lang="pl-PL" kern="0" dirty="0"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cs typeface="Arial"/>
              </a:rPr>
              <a:t>Language Options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6" name="Grupp 3"/>
          <p:cNvGrpSpPr>
            <a:grpSpLocks/>
          </p:cNvGrpSpPr>
          <p:nvPr/>
        </p:nvGrpSpPr>
        <p:grpSpPr bwMode="auto">
          <a:xfrm>
            <a:off x="0" y="2479675"/>
            <a:ext cx="331788" cy="323850"/>
            <a:chOff x="3044126" y="1710821"/>
            <a:chExt cx="331004" cy="547536"/>
          </a:xfrm>
        </p:grpSpPr>
        <p:sp>
          <p:nvSpPr>
            <p:cNvPr id="17" name="Rektangel med rundade hörn 4"/>
            <p:cNvSpPr/>
            <p:nvPr/>
          </p:nvSpPr>
          <p:spPr>
            <a:xfrm>
              <a:off x="3044126" y="1710821"/>
              <a:ext cx="221725" cy="54485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B3957"/>
                </a:gs>
                <a:gs pos="79000">
                  <a:srgbClr val="516BA5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cs typeface="Helvetica Neue"/>
              </a:endParaRPr>
            </a:p>
          </p:txBody>
        </p:sp>
        <p:sp>
          <p:nvSpPr>
            <p:cNvPr id="18" name="Likbent triangel 5"/>
            <p:cNvSpPr/>
            <p:nvPr/>
          </p:nvSpPr>
          <p:spPr>
            <a:xfrm rot="5400000">
              <a:off x="3045931" y="1929157"/>
              <a:ext cx="547536" cy="110862"/>
            </a:xfrm>
            <a:prstGeom prst="triangle">
              <a:avLst/>
            </a:prstGeom>
            <a:solidFill>
              <a:srgbClr val="516BA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UI Structure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5</a:t>
            </a:fld>
            <a:endParaRPr lang="pl-PL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dirty="0">
                <a:solidFill>
                  <a:srgbClr val="94C46F"/>
                </a:solidFill>
              </a:rPr>
              <a:t>Illustrate the complete UI structure of your application.</a:t>
            </a:r>
          </a:p>
          <a:p>
            <a:pPr lvl="1"/>
            <a:r>
              <a:rPr lang="en-GB" dirty="0">
                <a:solidFill>
                  <a:srgbClr val="94C46F"/>
                </a:solidFill>
              </a:rPr>
              <a:t>All application screens and navigation paths must be included.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rgbClr val="94C46F"/>
                </a:solidFill>
              </a:rPr>
              <a:t>Use a flow graph, tree structure, or depth navigation diagram.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UI Structure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6</a:t>
            </a:fld>
            <a:endParaRPr lang="pl-PL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123728" y="980728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solidFill>
                  <a:srgbClr val="94C46F"/>
                </a:solidFill>
              </a:rPr>
              <a:t>Flow Graph</a:t>
            </a:r>
            <a:endParaRPr lang="ko-KR" altLang="en-US" sz="2400" dirty="0">
              <a:solidFill>
                <a:srgbClr val="94C46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62397E-1659-40B3-BFBA-DC55E4D2E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825254"/>
            <a:ext cx="5915025" cy="2543175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9BF8AC7-9AB6-492A-9B04-1C39948D0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2629"/>
            <a:ext cx="8229600" cy="4389120"/>
          </a:xfrm>
        </p:spPr>
        <p:txBody>
          <a:bodyPr/>
          <a:lstStyle/>
          <a:p>
            <a:r>
              <a:rPr lang="en-GB" dirty="0">
                <a:solidFill>
                  <a:srgbClr val="94C46F"/>
                </a:solidFill>
              </a:rPr>
              <a:t>The following diagram is an example only. After adding your own UI structure diagram, delete this slide.</a:t>
            </a:r>
          </a:p>
        </p:txBody>
      </p:sp>
    </p:spTree>
    <p:extLst>
      <p:ext uri="{BB962C8B-B14F-4D97-AF65-F5344CB8AC3E}">
        <p14:creationId xmlns:p14="http://schemas.microsoft.com/office/powerpoint/2010/main" val="4284669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UI Structure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7</a:t>
            </a:fld>
            <a:endParaRPr lang="pl-PL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123728" y="980728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solidFill>
                  <a:srgbClr val="94C46F"/>
                </a:solidFill>
              </a:rPr>
              <a:t>Tree Structure</a:t>
            </a:r>
            <a:endParaRPr lang="ko-KR" altLang="en-US" sz="2400" dirty="0">
              <a:solidFill>
                <a:srgbClr val="94C46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14DE01-08BB-47AF-A6BE-FE72D3698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2602225"/>
            <a:ext cx="4019550" cy="3381375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8D54DDC0-2A17-469C-8B33-C248CDD5A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4480"/>
            <a:ext cx="8229600" cy="4389120"/>
          </a:xfrm>
        </p:spPr>
        <p:txBody>
          <a:bodyPr/>
          <a:lstStyle/>
          <a:p>
            <a:r>
              <a:rPr lang="en-GB" dirty="0">
                <a:solidFill>
                  <a:srgbClr val="94C46F"/>
                </a:solidFill>
              </a:rPr>
              <a:t>The following diagram is an example only. After adding your own UI structure diagram, delete this slide.</a:t>
            </a:r>
          </a:p>
        </p:txBody>
      </p:sp>
    </p:spTree>
    <p:extLst>
      <p:ext uri="{BB962C8B-B14F-4D97-AF65-F5344CB8AC3E}">
        <p14:creationId xmlns:p14="http://schemas.microsoft.com/office/powerpoint/2010/main" val="47226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UI Structure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8</a:t>
            </a:fld>
            <a:endParaRPr lang="pl-PL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123728" y="980728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solidFill>
                  <a:srgbClr val="94C46F"/>
                </a:solidFill>
              </a:rPr>
              <a:t>Depth Navigation</a:t>
            </a:r>
            <a:endParaRPr lang="ko-KR" altLang="en-US" sz="2400" dirty="0">
              <a:solidFill>
                <a:srgbClr val="94C46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CDF49-21AC-4453-BAAB-A61E89D2F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2657524"/>
            <a:ext cx="6781800" cy="3324225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59C9E2F-7EB1-4E42-BB18-C812922DE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92629"/>
            <a:ext cx="8229600" cy="4389120"/>
          </a:xfrm>
        </p:spPr>
        <p:txBody>
          <a:bodyPr/>
          <a:lstStyle/>
          <a:p>
            <a:r>
              <a:rPr lang="en-GB" dirty="0">
                <a:solidFill>
                  <a:srgbClr val="94C46F"/>
                </a:solidFill>
              </a:rPr>
              <a:t>The following diagram is an example only. After adding your own UI structure diagram, delete this slide.</a:t>
            </a:r>
          </a:p>
        </p:txBody>
      </p:sp>
    </p:spTree>
    <p:extLst>
      <p:ext uri="{BB962C8B-B14F-4D97-AF65-F5344CB8AC3E}">
        <p14:creationId xmlns:p14="http://schemas.microsoft.com/office/powerpoint/2010/main" val="3653410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9</a:t>
            </a:fld>
            <a:endParaRPr lang="pl-PL" dirty="0"/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27051" y="2501900"/>
            <a:ext cx="6997278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400" cap="none" baseline="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179388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35560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542925" indent="-18891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714375" indent="-16986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893763" indent="-179388" algn="l" rtl="0" eaLnBrk="1" fontAlgn="base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16287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0859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25431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cs typeface="Arial"/>
              </a:rPr>
              <a:t>UI Structure</a:t>
            </a:r>
            <a:endParaRPr lang="pl-PL" kern="0" dirty="0">
              <a:solidFill>
                <a:schemeClr val="bg1">
                  <a:lumMod val="75000"/>
                </a:schemeClr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b="1" kern="0" dirty="0">
                <a:solidFill>
                  <a:srgbClr val="374971"/>
                </a:solidFill>
                <a:cs typeface="Arial"/>
              </a:rPr>
              <a:t>Use Cases</a:t>
            </a:r>
            <a:endParaRPr lang="pl-PL" b="1" kern="0" dirty="0">
              <a:solidFill>
                <a:srgbClr val="374971"/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cs typeface="Arial"/>
              </a:rPr>
              <a:t>Menus and Functions</a:t>
            </a:r>
            <a:endParaRPr lang="pl-PL" kern="0" dirty="0">
              <a:solidFill>
                <a:schemeClr val="bg1">
                  <a:lumMod val="75000"/>
                </a:schemeClr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cs typeface="Arial"/>
              </a:rPr>
              <a:t>Remote Control Keys</a:t>
            </a:r>
            <a:endParaRPr lang="pl-PL" kern="0" dirty="0">
              <a:solidFill>
                <a:schemeClr val="bg1">
                  <a:lumMod val="75000"/>
                </a:schemeClr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cs typeface="Arial"/>
              </a:rPr>
              <a:t>Language Options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6" name="Grupp 3"/>
          <p:cNvGrpSpPr>
            <a:grpSpLocks/>
          </p:cNvGrpSpPr>
          <p:nvPr/>
        </p:nvGrpSpPr>
        <p:grpSpPr bwMode="auto">
          <a:xfrm>
            <a:off x="0" y="2708920"/>
            <a:ext cx="331788" cy="323850"/>
            <a:chOff x="3044126" y="1710821"/>
            <a:chExt cx="331004" cy="547536"/>
          </a:xfrm>
        </p:grpSpPr>
        <p:sp>
          <p:nvSpPr>
            <p:cNvPr id="17" name="Rektangel med rundade hörn 4"/>
            <p:cNvSpPr/>
            <p:nvPr/>
          </p:nvSpPr>
          <p:spPr>
            <a:xfrm>
              <a:off x="3044126" y="1710821"/>
              <a:ext cx="221725" cy="54485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B3957"/>
                </a:gs>
                <a:gs pos="79000">
                  <a:srgbClr val="516BA5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cs typeface="Helvetica Neue"/>
              </a:endParaRPr>
            </a:p>
          </p:txBody>
        </p:sp>
        <p:sp>
          <p:nvSpPr>
            <p:cNvPr id="18" name="Likbent triangel 5"/>
            <p:cNvSpPr/>
            <p:nvPr/>
          </p:nvSpPr>
          <p:spPr>
            <a:xfrm rot="5400000">
              <a:off x="3045931" y="1929157"/>
              <a:ext cx="547536" cy="110862"/>
            </a:xfrm>
            <a:prstGeom prst="triangle">
              <a:avLst/>
            </a:prstGeom>
            <a:solidFill>
              <a:srgbClr val="516BA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302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Use Cases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10</a:t>
            </a:fld>
            <a:endParaRPr lang="pl-PL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94C46F"/>
                </a:solidFill>
              </a:rPr>
              <a:t>Describe the application functionality in detail, by dividing it into clear use cases. The use cases must cover the main functions or scenarios of the application.</a:t>
            </a:r>
          </a:p>
          <a:p>
            <a:r>
              <a:rPr lang="en-GB" dirty="0">
                <a:solidFill>
                  <a:srgbClr val="94C46F"/>
                </a:solidFill>
              </a:rPr>
              <a:t>You can use text, figures, and screenshots. </a:t>
            </a:r>
          </a:p>
          <a:p>
            <a:r>
              <a:rPr lang="en-GB">
                <a:solidFill>
                  <a:srgbClr val="94C46F"/>
                </a:solidFill>
              </a:rPr>
              <a:t>Label </a:t>
            </a:r>
            <a:r>
              <a:rPr lang="en-GB" dirty="0">
                <a:solidFill>
                  <a:srgbClr val="94C46F"/>
                </a:solidFill>
              </a:rPr>
              <a:t>each use case with a </a:t>
            </a:r>
            <a:r>
              <a:rPr lang="en-GB">
                <a:solidFill>
                  <a:srgbClr val="94C46F"/>
                </a:solidFill>
              </a:rPr>
              <a:t>title.</a:t>
            </a:r>
            <a:endParaRPr lang="en-GB" dirty="0">
              <a:solidFill>
                <a:srgbClr val="94C46F"/>
              </a:solidFill>
            </a:endParaRPr>
          </a:p>
          <a:p>
            <a:r>
              <a:rPr lang="en-GB" dirty="0">
                <a:solidFill>
                  <a:srgbClr val="94C46F"/>
                </a:solidFill>
              </a:rPr>
              <a:t>Create as many slides as you need.</a:t>
            </a:r>
          </a:p>
          <a:p>
            <a:r>
              <a:rPr lang="en-GB" dirty="0">
                <a:solidFill>
                  <a:srgbClr val="94C46F"/>
                </a:solidFill>
              </a:rPr>
              <a:t>In addition to application-specific features, you must also describe any general user login, menu browsing, and in-app purchase features.</a:t>
            </a:r>
          </a:p>
        </p:txBody>
      </p:sp>
    </p:spTree>
    <p:extLst>
      <p:ext uri="{BB962C8B-B14F-4D97-AF65-F5344CB8AC3E}">
        <p14:creationId xmlns:p14="http://schemas.microsoft.com/office/powerpoint/2010/main" val="1131111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Use Cases</a:t>
            </a:r>
            <a:r>
              <a:rPr lang="en-GB" dirty="0"/>
              <a:t> </a:t>
            </a:r>
            <a:r>
              <a:rPr lang="pl-PL" dirty="0"/>
              <a:t>– User Login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11</a:t>
            </a:fld>
            <a:endParaRPr lang="pl-PL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595238"/>
            <a:ext cx="8229600" cy="4389120"/>
          </a:xfrm>
        </p:spPr>
        <p:txBody>
          <a:bodyPr/>
          <a:lstStyle/>
          <a:p>
            <a:r>
              <a:rPr lang="en-GB" dirty="0">
                <a:solidFill>
                  <a:srgbClr val="94C46F"/>
                </a:solidFill>
              </a:rPr>
              <a:t>The following use case is an example only.</a:t>
            </a:r>
          </a:p>
          <a:p>
            <a:r>
              <a:rPr lang="en-GB" dirty="0">
                <a:solidFill>
                  <a:srgbClr val="94C46F"/>
                </a:solidFill>
              </a:rPr>
              <a:t>You must provide test account login and password info.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25" y="2961123"/>
            <a:ext cx="6762750" cy="16573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13A330-E7DB-4E43-8A16-EE0628831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950080"/>
              </p:ext>
            </p:extLst>
          </p:nvPr>
        </p:nvGraphicFramePr>
        <p:xfrm>
          <a:off x="1173832" y="4978518"/>
          <a:ext cx="4190256" cy="51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024">
                  <a:extLst>
                    <a:ext uri="{9D8B030D-6E8A-4147-A177-3AD203B41FA5}">
                      <a16:colId xmlns:a16="http://schemas.microsoft.com/office/drawing/2014/main" val="3493516026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644781736"/>
                    </a:ext>
                  </a:extLst>
                </a:gridCol>
              </a:tblGrid>
              <a:tr h="177697">
                <a:tc>
                  <a:txBody>
                    <a:bodyPr/>
                    <a:lstStyle/>
                    <a:p>
                      <a:r>
                        <a:rPr lang="en-US" sz="1100" dirty="0"/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835464"/>
                  </a:ext>
                </a:extLst>
              </a:tr>
              <a:tr h="2543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testaccount@example.com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MyTestAccount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953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023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Use Cases</a:t>
            </a:r>
            <a:r>
              <a:rPr lang="en-GB" dirty="0"/>
              <a:t> </a:t>
            </a:r>
            <a:r>
              <a:rPr lang="pl-PL" dirty="0"/>
              <a:t>– </a:t>
            </a:r>
            <a:r>
              <a:rPr lang="en-US" dirty="0"/>
              <a:t>Menu Browsing</a:t>
            </a:r>
            <a:endParaRPr lang="pl-P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12</a:t>
            </a:fld>
            <a:endParaRPr lang="pl-PL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594480"/>
            <a:ext cx="8229600" cy="4389120"/>
          </a:xfrm>
        </p:spPr>
        <p:txBody>
          <a:bodyPr/>
          <a:lstStyle/>
          <a:p>
            <a:r>
              <a:rPr lang="en-GB" dirty="0">
                <a:solidFill>
                  <a:srgbClr val="94C46F"/>
                </a:solidFill>
              </a:rPr>
              <a:t>The following use case is an example only.</a:t>
            </a:r>
          </a:p>
          <a:p>
            <a:endParaRPr lang="en-GB" dirty="0">
              <a:solidFill>
                <a:srgbClr val="94C46F"/>
              </a:solidFill>
            </a:endParaRPr>
          </a:p>
          <a:p>
            <a:r>
              <a:rPr lang="en-GB" dirty="0">
                <a:solidFill>
                  <a:srgbClr val="94C46F"/>
                </a:solidFill>
              </a:rPr>
              <a:t>To browse the video catalog:</a:t>
            </a:r>
          </a:p>
          <a:p>
            <a:pPr marL="697230" lvl="1" indent="-342900">
              <a:buFont typeface="+mj-lt"/>
              <a:buAutoNum type="arabicPeriod"/>
            </a:pPr>
            <a:r>
              <a:rPr lang="en-GB" dirty="0">
                <a:solidFill>
                  <a:srgbClr val="94C46F"/>
                </a:solidFill>
              </a:rPr>
              <a:t>From the home page, click the “Menu” key. The application menu appears.</a:t>
            </a:r>
          </a:p>
          <a:p>
            <a:pPr marL="697230" lvl="1" indent="-342900">
              <a:buFont typeface="+mj-lt"/>
              <a:buAutoNum type="arabicPeriod"/>
            </a:pPr>
            <a:r>
              <a:rPr lang="en-GB" dirty="0">
                <a:solidFill>
                  <a:srgbClr val="94C46F"/>
                </a:solidFill>
              </a:rPr>
              <a:t>Select “Explore” and click “OK”. The application moves to the “Explore” page, which shows a category list. </a:t>
            </a:r>
          </a:p>
          <a:p>
            <a:pPr marL="697230" lvl="1" indent="-342900">
              <a:buFont typeface="+mj-lt"/>
              <a:buAutoNum type="arabicPeriod"/>
            </a:pPr>
            <a:r>
              <a:rPr lang="en-GB" dirty="0">
                <a:solidFill>
                  <a:srgbClr val="94C46F"/>
                </a:solidFill>
              </a:rPr>
              <a:t>Select a category and click “OK”.  The application moves to the category page, which lists the videos in that category.</a:t>
            </a:r>
          </a:p>
          <a:p>
            <a:pPr marL="697230" lvl="1" indent="-342900">
              <a:buFont typeface="+mj-lt"/>
              <a:buAutoNum type="arabicPeriod"/>
            </a:pPr>
            <a:r>
              <a:rPr lang="en-GB" dirty="0">
                <a:solidFill>
                  <a:srgbClr val="94C46F"/>
                </a:solidFill>
              </a:rPr>
              <a:t>You can select a video for playback from the video list, or click “Back” to return to the category list.</a:t>
            </a:r>
          </a:p>
        </p:txBody>
      </p:sp>
    </p:spTree>
    <p:extLst>
      <p:ext uri="{BB962C8B-B14F-4D97-AF65-F5344CB8AC3E}">
        <p14:creationId xmlns:p14="http://schemas.microsoft.com/office/powerpoint/2010/main" val="1351244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Use Case</a:t>
            </a:r>
            <a:r>
              <a:rPr lang="en-US" dirty="0"/>
              <a:t>s</a:t>
            </a:r>
            <a:r>
              <a:rPr lang="pl-PL" dirty="0"/>
              <a:t> – In-app Purchase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13</a:t>
            </a:fld>
            <a:endParaRPr lang="pl-PL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594480"/>
            <a:ext cx="8229600" cy="4389120"/>
          </a:xfrm>
        </p:spPr>
        <p:txBody>
          <a:bodyPr/>
          <a:lstStyle/>
          <a:p>
            <a:r>
              <a:rPr lang="en-GB" dirty="0">
                <a:solidFill>
                  <a:srgbClr val="94C46F"/>
                </a:solidFill>
              </a:rPr>
              <a:t>The following use case is an example only.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2137B-1499-4D23-BB24-F668ACD10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204864"/>
            <a:ext cx="65341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66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14</a:t>
            </a:fld>
            <a:endParaRPr lang="pl-PL" dirty="0"/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27051" y="2501900"/>
            <a:ext cx="6997278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400" cap="none" baseline="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179388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35560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542925" indent="-18891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714375" indent="-16986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893763" indent="-179388" algn="l" rtl="0" eaLnBrk="1" fontAlgn="base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16287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0859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25431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cs typeface="Arial"/>
              </a:rPr>
              <a:t>UI Structure</a:t>
            </a:r>
            <a:endParaRPr lang="pl-PL" kern="0" dirty="0">
              <a:solidFill>
                <a:schemeClr val="bg1">
                  <a:lumMod val="75000"/>
                </a:schemeClr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rgbClr val="FFFFFF">
                    <a:lumMod val="75000"/>
                  </a:srgbClr>
                </a:solidFill>
                <a:cs typeface="Arial"/>
              </a:rPr>
              <a:t>Use Cases</a:t>
            </a:r>
            <a:endParaRPr lang="pl-PL" kern="0" dirty="0">
              <a:solidFill>
                <a:srgbClr val="FFFFFF">
                  <a:lumMod val="75000"/>
                </a:srgbClr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b="1" kern="0" dirty="0">
                <a:solidFill>
                  <a:srgbClr val="374971"/>
                </a:solidFill>
                <a:cs typeface="Arial"/>
              </a:rPr>
              <a:t>Menus and Functions</a:t>
            </a:r>
            <a:endParaRPr lang="pl-PL" b="1" kern="0" dirty="0">
              <a:solidFill>
                <a:srgbClr val="374971"/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cs typeface="Arial"/>
              </a:rPr>
              <a:t>Remote Control Keys</a:t>
            </a:r>
            <a:endParaRPr lang="pl-PL" kern="0" dirty="0"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cs typeface="Arial"/>
              </a:rPr>
              <a:t>Language Options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6" name="Grupp 3"/>
          <p:cNvGrpSpPr>
            <a:grpSpLocks/>
          </p:cNvGrpSpPr>
          <p:nvPr/>
        </p:nvGrpSpPr>
        <p:grpSpPr bwMode="auto">
          <a:xfrm>
            <a:off x="0" y="2996952"/>
            <a:ext cx="331788" cy="323850"/>
            <a:chOff x="3044126" y="1710821"/>
            <a:chExt cx="331004" cy="547536"/>
          </a:xfrm>
        </p:grpSpPr>
        <p:sp>
          <p:nvSpPr>
            <p:cNvPr id="17" name="Rektangel med rundade hörn 4"/>
            <p:cNvSpPr/>
            <p:nvPr/>
          </p:nvSpPr>
          <p:spPr>
            <a:xfrm>
              <a:off x="3044126" y="1710821"/>
              <a:ext cx="221725" cy="54485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B3957"/>
                </a:gs>
                <a:gs pos="79000">
                  <a:srgbClr val="516BA5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cs typeface="Helvetica Neue"/>
              </a:endParaRPr>
            </a:p>
          </p:txBody>
        </p:sp>
        <p:sp>
          <p:nvSpPr>
            <p:cNvPr id="18" name="Likbent triangel 5"/>
            <p:cNvSpPr/>
            <p:nvPr/>
          </p:nvSpPr>
          <p:spPr>
            <a:xfrm rot="5400000">
              <a:off x="3045931" y="1929157"/>
              <a:ext cx="547536" cy="110862"/>
            </a:xfrm>
            <a:prstGeom prst="triangle">
              <a:avLst/>
            </a:prstGeom>
            <a:solidFill>
              <a:srgbClr val="516BA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951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Menus and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15</a:t>
            </a:fld>
            <a:endParaRPr lang="pl-PL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94C46F"/>
                </a:solidFill>
              </a:rPr>
              <a:t>Use labeled screenshots to describe the UI elements on each application screen.</a:t>
            </a:r>
          </a:p>
          <a:p>
            <a:r>
              <a:rPr lang="en-GB" dirty="0">
                <a:solidFill>
                  <a:srgbClr val="94C46F"/>
                </a:solidFill>
              </a:rPr>
              <a:t>Create as many slides as you need.</a:t>
            </a:r>
          </a:p>
          <a:p>
            <a:r>
              <a:rPr lang="en-GB" dirty="0">
                <a:solidFill>
                  <a:srgbClr val="94C46F"/>
                </a:solidFill>
              </a:rPr>
              <a:t>Label the UI elements with numbers or text. If there are many elements, use number labels.</a:t>
            </a:r>
          </a:p>
          <a:p>
            <a:r>
              <a:rPr lang="en-GB" dirty="0">
                <a:solidFill>
                  <a:srgbClr val="94C46F"/>
                </a:solidFill>
              </a:rPr>
              <a:t>Describe the elements in a table.</a:t>
            </a:r>
          </a:p>
          <a:p>
            <a:r>
              <a:rPr lang="en-GB" dirty="0">
                <a:solidFill>
                  <a:srgbClr val="94C46F"/>
                </a:solidFill>
              </a:rPr>
              <a:t>If the screenshots are not in English, provide translations for titles, headings, and button labels.</a:t>
            </a:r>
          </a:p>
        </p:txBody>
      </p:sp>
    </p:spTree>
    <p:extLst>
      <p:ext uri="{BB962C8B-B14F-4D97-AF65-F5344CB8AC3E}">
        <p14:creationId xmlns:p14="http://schemas.microsoft.com/office/powerpoint/2010/main" val="1956065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Menus and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16</a:t>
            </a:fld>
            <a:endParaRPr lang="pl-PL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94C46F"/>
                </a:solidFill>
              </a:rPr>
              <a:t>The following illustration is an example only. You must use a screenshot.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123728" y="980728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solidFill>
                  <a:srgbClr val="94C46F"/>
                </a:solidFill>
              </a:rPr>
              <a:t>Example: Number Labels</a:t>
            </a:r>
            <a:endParaRPr lang="ko-KR" altLang="en-US" sz="2400" dirty="0">
              <a:solidFill>
                <a:srgbClr val="94C46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50" y="2924944"/>
            <a:ext cx="5495925" cy="28003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D141EA-C744-4381-9930-2699EC03E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403640"/>
              </p:ext>
            </p:extLst>
          </p:nvPr>
        </p:nvGraphicFramePr>
        <p:xfrm>
          <a:off x="6253486" y="2924945"/>
          <a:ext cx="2448272" cy="2068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754">
                  <a:extLst>
                    <a:ext uri="{9D8B030D-6E8A-4147-A177-3AD203B41FA5}">
                      <a16:colId xmlns:a16="http://schemas.microsoft.com/office/drawing/2014/main" val="78765453"/>
                    </a:ext>
                  </a:extLst>
                </a:gridCol>
                <a:gridCol w="1969518">
                  <a:extLst>
                    <a:ext uri="{9D8B030D-6E8A-4147-A177-3AD203B41FA5}">
                      <a16:colId xmlns:a16="http://schemas.microsoft.com/office/drawing/2014/main" val="3768374184"/>
                    </a:ext>
                  </a:extLst>
                </a:gridCol>
              </a:tblGrid>
              <a:tr h="240965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768151"/>
                  </a:ext>
                </a:extLst>
              </a:tr>
              <a:tr h="368534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Banner slideshow linking to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movies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69760"/>
                  </a:ext>
                </a:extLst>
              </a:tr>
              <a:tr h="22679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 the banner to display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630216"/>
                  </a:ext>
                </a:extLst>
              </a:tr>
              <a:tr h="22679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Continue playing a movie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408515"/>
                  </a:ext>
                </a:extLst>
              </a:tr>
              <a:tr h="22679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to the playlists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309716"/>
                  </a:ext>
                </a:extLst>
              </a:tr>
              <a:tr h="368534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to the movie directory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391808"/>
                  </a:ext>
                </a:extLst>
              </a:tr>
              <a:tr h="28581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Navigation help bar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888650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8E984AB7-EF75-44A4-AB87-B372E5B32EB0}"/>
              </a:ext>
            </a:extLst>
          </p:cNvPr>
          <p:cNvSpPr/>
          <p:nvPr/>
        </p:nvSpPr>
        <p:spPr>
          <a:xfrm>
            <a:off x="899592" y="3212976"/>
            <a:ext cx="216024" cy="216024"/>
          </a:xfrm>
          <a:prstGeom prst="ellipse">
            <a:avLst/>
          </a:prstGeom>
          <a:solidFill>
            <a:srgbClr val="94C46F"/>
          </a:solidFill>
          <a:ln>
            <a:solidFill>
              <a:srgbClr val="94C46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11ED57-0375-493F-B253-246EC8BEE50B}"/>
              </a:ext>
            </a:extLst>
          </p:cNvPr>
          <p:cNvSpPr/>
          <p:nvPr/>
        </p:nvSpPr>
        <p:spPr>
          <a:xfrm>
            <a:off x="4644008" y="3914016"/>
            <a:ext cx="216024" cy="216024"/>
          </a:xfrm>
          <a:prstGeom prst="ellipse">
            <a:avLst/>
          </a:prstGeom>
          <a:solidFill>
            <a:srgbClr val="94C46F"/>
          </a:solidFill>
          <a:ln>
            <a:solidFill>
              <a:srgbClr val="94C46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FA436B-799C-4AD5-AA03-DE9AC7D99B42}"/>
              </a:ext>
            </a:extLst>
          </p:cNvPr>
          <p:cNvSpPr/>
          <p:nvPr/>
        </p:nvSpPr>
        <p:spPr>
          <a:xfrm>
            <a:off x="1936053" y="4653136"/>
            <a:ext cx="216024" cy="216024"/>
          </a:xfrm>
          <a:prstGeom prst="ellipse">
            <a:avLst/>
          </a:prstGeom>
          <a:solidFill>
            <a:srgbClr val="94C46F"/>
          </a:solidFill>
          <a:ln>
            <a:solidFill>
              <a:srgbClr val="94C46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BC83AA-02C2-458B-A5EB-0CAF0DF99731}"/>
              </a:ext>
            </a:extLst>
          </p:cNvPr>
          <p:cNvSpPr/>
          <p:nvPr/>
        </p:nvSpPr>
        <p:spPr>
          <a:xfrm>
            <a:off x="3826477" y="4653136"/>
            <a:ext cx="216024" cy="216024"/>
          </a:xfrm>
          <a:prstGeom prst="ellipse">
            <a:avLst/>
          </a:prstGeom>
          <a:solidFill>
            <a:srgbClr val="94C46F"/>
          </a:solidFill>
          <a:ln>
            <a:solidFill>
              <a:srgbClr val="94C46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3506CB-A913-485A-805B-6564DAC0769F}"/>
              </a:ext>
            </a:extLst>
          </p:cNvPr>
          <p:cNvSpPr/>
          <p:nvPr/>
        </p:nvSpPr>
        <p:spPr>
          <a:xfrm>
            <a:off x="5621472" y="4653136"/>
            <a:ext cx="216024" cy="216024"/>
          </a:xfrm>
          <a:prstGeom prst="ellipse">
            <a:avLst/>
          </a:prstGeom>
          <a:solidFill>
            <a:srgbClr val="94C46F"/>
          </a:solidFill>
          <a:ln>
            <a:solidFill>
              <a:srgbClr val="94C46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E2EBC4-4527-49D5-8A4B-B566B1914E4A}"/>
              </a:ext>
            </a:extLst>
          </p:cNvPr>
          <p:cNvSpPr/>
          <p:nvPr/>
        </p:nvSpPr>
        <p:spPr>
          <a:xfrm>
            <a:off x="3105300" y="5412812"/>
            <a:ext cx="216024" cy="216024"/>
          </a:xfrm>
          <a:prstGeom prst="ellipse">
            <a:avLst/>
          </a:prstGeom>
          <a:solidFill>
            <a:srgbClr val="94C46F"/>
          </a:solidFill>
          <a:ln>
            <a:solidFill>
              <a:srgbClr val="94C46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Menus and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17</a:t>
            </a:fld>
            <a:endParaRPr lang="pl-PL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389120"/>
          </a:xfrm>
        </p:spPr>
        <p:txBody>
          <a:bodyPr/>
          <a:lstStyle/>
          <a:p>
            <a:r>
              <a:rPr lang="en-GB" dirty="0">
                <a:solidFill>
                  <a:srgbClr val="94C46F"/>
                </a:solidFill>
              </a:rPr>
              <a:t>The following illustration is an example only. You must use a screenshot.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123728" y="980728"/>
            <a:ext cx="6563072" cy="6156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rtl="0" eaLnBrk="1" latinLnBrk="1" hangingPunct="1">
              <a:spcBef>
                <a:spcPct val="0"/>
              </a:spcBef>
              <a:buNone/>
              <a:defRPr kumimoji="0" sz="2800" b="0" kern="1200">
                <a:ln>
                  <a:noFill/>
                </a:ln>
                <a:solidFill>
                  <a:srgbClr val="37497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solidFill>
                  <a:srgbClr val="94C46F"/>
                </a:solidFill>
              </a:rPr>
              <a:t>Example: Text Labels</a:t>
            </a:r>
            <a:endParaRPr lang="ko-KR" altLang="en-US" sz="2400" dirty="0">
              <a:solidFill>
                <a:srgbClr val="94C46F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AFF4ABA-7A02-4A4C-AF56-E6F0E1085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586641"/>
              </p:ext>
            </p:extLst>
          </p:nvPr>
        </p:nvGraphicFramePr>
        <p:xfrm>
          <a:off x="6084168" y="2529087"/>
          <a:ext cx="2860725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501">
                  <a:extLst>
                    <a:ext uri="{9D8B030D-6E8A-4147-A177-3AD203B41FA5}">
                      <a16:colId xmlns:a16="http://schemas.microsoft.com/office/drawing/2014/main" val="355643231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90548622"/>
                    </a:ext>
                  </a:extLst>
                </a:gridCol>
              </a:tblGrid>
              <a:tr h="15783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160985"/>
                  </a:ext>
                </a:extLst>
              </a:tr>
              <a:tr h="18678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Shows the page title.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999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Shows the gallery images as a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thumbnail grid. By default, the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top-left image is selected.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01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Navigation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help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Shows a guide to the remote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key functions.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35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Selected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Shows the currently-selected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 with a frame highlight. To change the selection, use the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remote control arrow keys.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078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Popup </a:t>
                      </a:r>
                    </a:p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Shown by clicking “Select” on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selected image.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01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</a:t>
                      </a:r>
                    </a:p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Opens the image in fullscreen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715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 </a:t>
                      </a:r>
                    </a:p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Opens the image sharing popup.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838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</a:t>
                      </a:r>
                    </a:p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Opens the delete image </a:t>
                      </a:r>
                    </a:p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confirmation popup.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080894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D41DB984-452F-453F-BBF4-72918D7DC8AE}"/>
              </a:ext>
            </a:extLst>
          </p:cNvPr>
          <p:cNvGrpSpPr/>
          <p:nvPr/>
        </p:nvGrpSpPr>
        <p:grpSpPr>
          <a:xfrm>
            <a:off x="319484" y="2941806"/>
            <a:ext cx="5514975" cy="2908362"/>
            <a:chOff x="319313" y="2816932"/>
            <a:chExt cx="5514975" cy="290836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3C79B31-65AD-49D9-944C-BDF5A040A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313" y="2924944"/>
              <a:ext cx="5514975" cy="2800350"/>
            </a:xfrm>
            <a:prstGeom prst="rect">
              <a:avLst/>
            </a:prstGeom>
          </p:spPr>
        </p:pic>
        <p:sp>
          <p:nvSpPr>
            <p:cNvPr id="14" name="Callout: Line 13">
              <a:extLst>
                <a:ext uri="{FF2B5EF4-FFF2-40B4-BE49-F238E27FC236}">
                  <a16:creationId xmlns:a16="http://schemas.microsoft.com/office/drawing/2014/main" id="{5C3F0F3B-7FCD-4F53-9F01-CD958395A145}"/>
                </a:ext>
              </a:extLst>
            </p:cNvPr>
            <p:cNvSpPr/>
            <p:nvPr/>
          </p:nvSpPr>
          <p:spPr>
            <a:xfrm>
              <a:off x="1962758" y="2816932"/>
              <a:ext cx="864096" cy="216024"/>
            </a:xfrm>
            <a:prstGeom prst="borderCallout1">
              <a:avLst>
                <a:gd name="adj1" fmla="val 45206"/>
                <a:gd name="adj2" fmla="val 2690"/>
                <a:gd name="adj3" fmla="val 121318"/>
                <a:gd name="adj4" fmla="val -89039"/>
              </a:avLst>
            </a:prstGeom>
            <a:solidFill>
              <a:srgbClr val="94C46F"/>
            </a:solidFill>
            <a:ln>
              <a:solidFill>
                <a:srgbClr val="94C4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Page title</a:t>
              </a:r>
            </a:p>
          </p:txBody>
        </p:sp>
        <p:sp>
          <p:nvSpPr>
            <p:cNvPr id="15" name="Callout: Line 14">
              <a:extLst>
                <a:ext uri="{FF2B5EF4-FFF2-40B4-BE49-F238E27FC236}">
                  <a16:creationId xmlns:a16="http://schemas.microsoft.com/office/drawing/2014/main" id="{9CA0E3EE-D592-4900-8ED3-5EEAB6B08A26}"/>
                </a:ext>
              </a:extLst>
            </p:cNvPr>
            <p:cNvSpPr/>
            <p:nvPr/>
          </p:nvSpPr>
          <p:spPr>
            <a:xfrm>
              <a:off x="4355976" y="2816932"/>
              <a:ext cx="864096" cy="216024"/>
            </a:xfrm>
            <a:prstGeom prst="borderCallout1">
              <a:avLst>
                <a:gd name="adj1" fmla="val 45206"/>
                <a:gd name="adj2" fmla="val 2690"/>
                <a:gd name="adj3" fmla="val 191866"/>
                <a:gd name="adj4" fmla="val -52663"/>
              </a:avLst>
            </a:prstGeom>
            <a:solidFill>
              <a:srgbClr val="94C46F"/>
            </a:solidFill>
            <a:ln>
              <a:solidFill>
                <a:srgbClr val="94C4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Image grid</a:t>
              </a:r>
            </a:p>
          </p:txBody>
        </p:sp>
        <p:sp>
          <p:nvSpPr>
            <p:cNvPr id="16" name="Callout: Line 15">
              <a:extLst>
                <a:ext uri="{FF2B5EF4-FFF2-40B4-BE49-F238E27FC236}">
                  <a16:creationId xmlns:a16="http://schemas.microsoft.com/office/drawing/2014/main" id="{1D4BFB0F-A485-4BC5-B28F-1B459D4FD645}"/>
                </a:ext>
              </a:extLst>
            </p:cNvPr>
            <p:cNvSpPr/>
            <p:nvPr/>
          </p:nvSpPr>
          <p:spPr>
            <a:xfrm>
              <a:off x="673224" y="3501008"/>
              <a:ext cx="1162472" cy="216024"/>
            </a:xfrm>
            <a:prstGeom prst="borderCallout1">
              <a:avLst>
                <a:gd name="adj1" fmla="val 54025"/>
                <a:gd name="adj2" fmla="val 99693"/>
                <a:gd name="adj3" fmla="val 174229"/>
                <a:gd name="adj4" fmla="val 146095"/>
              </a:avLst>
            </a:prstGeom>
            <a:solidFill>
              <a:srgbClr val="94C46F"/>
            </a:solidFill>
            <a:ln>
              <a:solidFill>
                <a:srgbClr val="94C4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Selected image</a:t>
              </a:r>
            </a:p>
          </p:txBody>
        </p:sp>
        <p:sp>
          <p:nvSpPr>
            <p:cNvPr id="17" name="Callout: Line 16">
              <a:extLst>
                <a:ext uri="{FF2B5EF4-FFF2-40B4-BE49-F238E27FC236}">
                  <a16:creationId xmlns:a16="http://schemas.microsoft.com/office/drawing/2014/main" id="{7128F4F1-D133-437D-B7D4-257E37FF05C1}"/>
                </a:ext>
              </a:extLst>
            </p:cNvPr>
            <p:cNvSpPr/>
            <p:nvPr/>
          </p:nvSpPr>
          <p:spPr>
            <a:xfrm>
              <a:off x="3563888" y="4869160"/>
              <a:ext cx="1008112" cy="216024"/>
            </a:xfrm>
            <a:prstGeom prst="borderCallout1">
              <a:avLst>
                <a:gd name="adj1" fmla="val 45206"/>
                <a:gd name="adj2" fmla="val 2690"/>
                <a:gd name="adj3" fmla="val -178509"/>
                <a:gd name="adj4" fmla="val -38333"/>
              </a:avLst>
            </a:prstGeom>
            <a:solidFill>
              <a:srgbClr val="94C46F"/>
            </a:solidFill>
            <a:ln>
              <a:solidFill>
                <a:srgbClr val="94C4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Popup menu</a:t>
              </a:r>
            </a:p>
          </p:txBody>
        </p:sp>
        <p:sp>
          <p:nvSpPr>
            <p:cNvPr id="18" name="Callout: Line 17">
              <a:extLst>
                <a:ext uri="{FF2B5EF4-FFF2-40B4-BE49-F238E27FC236}">
                  <a16:creationId xmlns:a16="http://schemas.microsoft.com/office/drawing/2014/main" id="{77F72E64-4679-4A36-A47A-E853B5665D3A}"/>
                </a:ext>
              </a:extLst>
            </p:cNvPr>
            <p:cNvSpPr/>
            <p:nvPr/>
          </p:nvSpPr>
          <p:spPr>
            <a:xfrm>
              <a:off x="3851920" y="3609020"/>
              <a:ext cx="936104" cy="199349"/>
            </a:xfrm>
            <a:prstGeom prst="borderCallout1">
              <a:avLst>
                <a:gd name="adj1" fmla="val 45206"/>
                <a:gd name="adj2" fmla="val 2690"/>
                <a:gd name="adj3" fmla="val 112500"/>
                <a:gd name="adj4" fmla="val -36298"/>
              </a:avLst>
            </a:prstGeom>
            <a:solidFill>
              <a:srgbClr val="94C46F"/>
            </a:solidFill>
            <a:ln>
              <a:solidFill>
                <a:srgbClr val="94C4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View image</a:t>
              </a:r>
            </a:p>
          </p:txBody>
        </p:sp>
        <p:sp>
          <p:nvSpPr>
            <p:cNvPr id="20" name="Callout: Line 19">
              <a:extLst>
                <a:ext uri="{FF2B5EF4-FFF2-40B4-BE49-F238E27FC236}">
                  <a16:creationId xmlns:a16="http://schemas.microsoft.com/office/drawing/2014/main" id="{CE2E7ABC-B7B0-4BE6-8C08-7641FA9FA333}"/>
                </a:ext>
              </a:extLst>
            </p:cNvPr>
            <p:cNvSpPr/>
            <p:nvPr/>
          </p:nvSpPr>
          <p:spPr>
            <a:xfrm>
              <a:off x="3841254" y="4022420"/>
              <a:ext cx="1018778" cy="206630"/>
            </a:xfrm>
            <a:prstGeom prst="borderCallout1">
              <a:avLst>
                <a:gd name="adj1" fmla="val 45206"/>
                <a:gd name="adj2" fmla="val 2690"/>
                <a:gd name="adj3" fmla="val 45607"/>
                <a:gd name="adj4" fmla="val -32641"/>
              </a:avLst>
            </a:prstGeom>
            <a:solidFill>
              <a:srgbClr val="94C46F"/>
            </a:solidFill>
            <a:ln>
              <a:solidFill>
                <a:srgbClr val="94C4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Share image</a:t>
              </a:r>
            </a:p>
          </p:txBody>
        </p:sp>
        <p:sp>
          <p:nvSpPr>
            <p:cNvPr id="21" name="Callout: Line 20">
              <a:extLst>
                <a:ext uri="{FF2B5EF4-FFF2-40B4-BE49-F238E27FC236}">
                  <a16:creationId xmlns:a16="http://schemas.microsoft.com/office/drawing/2014/main" id="{C9F1189F-D006-4BED-8043-DBA302C80253}"/>
                </a:ext>
              </a:extLst>
            </p:cNvPr>
            <p:cNvSpPr/>
            <p:nvPr/>
          </p:nvSpPr>
          <p:spPr>
            <a:xfrm>
              <a:off x="3851920" y="4368872"/>
              <a:ext cx="1008112" cy="199327"/>
            </a:xfrm>
            <a:prstGeom prst="borderCallout1">
              <a:avLst>
                <a:gd name="adj1" fmla="val 45206"/>
                <a:gd name="adj2" fmla="val 2690"/>
                <a:gd name="adj3" fmla="val -21285"/>
                <a:gd name="adj4" fmla="val -33463"/>
              </a:avLst>
            </a:prstGeom>
            <a:solidFill>
              <a:srgbClr val="94C46F"/>
            </a:solidFill>
            <a:ln>
              <a:solidFill>
                <a:srgbClr val="94C4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Delete image</a:t>
              </a:r>
            </a:p>
          </p:txBody>
        </p:sp>
        <p:sp>
          <p:nvSpPr>
            <p:cNvPr id="22" name="Callout: Line 21">
              <a:extLst>
                <a:ext uri="{FF2B5EF4-FFF2-40B4-BE49-F238E27FC236}">
                  <a16:creationId xmlns:a16="http://schemas.microsoft.com/office/drawing/2014/main" id="{B98FFC12-8463-4E59-8C32-CA9A52F1CE66}"/>
                </a:ext>
              </a:extLst>
            </p:cNvPr>
            <p:cNvSpPr/>
            <p:nvPr/>
          </p:nvSpPr>
          <p:spPr>
            <a:xfrm>
              <a:off x="853800" y="4941167"/>
              <a:ext cx="1450504" cy="211621"/>
            </a:xfrm>
            <a:prstGeom prst="borderCallout1">
              <a:avLst>
                <a:gd name="adj1" fmla="val 54025"/>
                <a:gd name="adj2" fmla="val 99693"/>
                <a:gd name="adj3" fmla="val 195290"/>
                <a:gd name="adj4" fmla="val 147408"/>
              </a:avLst>
            </a:prstGeom>
            <a:solidFill>
              <a:srgbClr val="94C46F"/>
            </a:solidFill>
            <a:ln>
              <a:solidFill>
                <a:srgbClr val="94C4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Navigation help bar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1708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18</a:t>
            </a:fld>
            <a:endParaRPr lang="pl-PL" dirty="0"/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27051" y="2501900"/>
            <a:ext cx="6997278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400" cap="none" baseline="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179388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35560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542925" indent="-18891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714375" indent="-16986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893763" indent="-179388" algn="l" rtl="0" eaLnBrk="1" fontAlgn="base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16287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0859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25431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cs typeface="Arial"/>
              </a:rPr>
              <a:t>UI Structure</a:t>
            </a:r>
            <a:endParaRPr lang="pl-PL" kern="0" dirty="0">
              <a:solidFill>
                <a:schemeClr val="bg1">
                  <a:lumMod val="75000"/>
                </a:schemeClr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rgbClr val="FFFFFF">
                    <a:lumMod val="75000"/>
                  </a:srgbClr>
                </a:solidFill>
                <a:cs typeface="Arial"/>
              </a:rPr>
              <a:t>Use Cases</a:t>
            </a:r>
            <a:endParaRPr lang="pl-PL" kern="0" dirty="0">
              <a:solidFill>
                <a:srgbClr val="FFFFFF">
                  <a:lumMod val="75000"/>
                </a:srgbClr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cs typeface="Arial"/>
              </a:rPr>
              <a:t>Menus and Functions</a:t>
            </a:r>
            <a:endParaRPr lang="pl-PL" kern="0" dirty="0"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b="1" kern="0" dirty="0">
                <a:solidFill>
                  <a:srgbClr val="374971"/>
                </a:solidFill>
                <a:cs typeface="Arial"/>
              </a:rPr>
              <a:t>Remote Control Keys</a:t>
            </a:r>
            <a:endParaRPr lang="pl-PL" b="1" kern="0" dirty="0">
              <a:solidFill>
                <a:srgbClr val="374971"/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cs typeface="Arial"/>
              </a:rPr>
              <a:t>Language Options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6" name="Grupp 3"/>
          <p:cNvGrpSpPr>
            <a:grpSpLocks/>
          </p:cNvGrpSpPr>
          <p:nvPr/>
        </p:nvGrpSpPr>
        <p:grpSpPr bwMode="auto">
          <a:xfrm>
            <a:off x="0" y="3249166"/>
            <a:ext cx="331788" cy="323850"/>
            <a:chOff x="3044126" y="1710821"/>
            <a:chExt cx="331004" cy="547536"/>
          </a:xfrm>
        </p:grpSpPr>
        <p:sp>
          <p:nvSpPr>
            <p:cNvPr id="17" name="Rektangel med rundade hörn 4"/>
            <p:cNvSpPr/>
            <p:nvPr/>
          </p:nvSpPr>
          <p:spPr>
            <a:xfrm>
              <a:off x="3044126" y="1710821"/>
              <a:ext cx="221725" cy="54485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B3957"/>
                </a:gs>
                <a:gs pos="79000">
                  <a:srgbClr val="516BA5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cs typeface="Helvetica Neue"/>
              </a:endParaRPr>
            </a:p>
          </p:txBody>
        </p:sp>
        <p:sp>
          <p:nvSpPr>
            <p:cNvPr id="18" name="Likbent triangel 5"/>
            <p:cNvSpPr/>
            <p:nvPr/>
          </p:nvSpPr>
          <p:spPr>
            <a:xfrm rot="5400000">
              <a:off x="3045931" y="1929157"/>
              <a:ext cx="547536" cy="110862"/>
            </a:xfrm>
            <a:prstGeom prst="triangle">
              <a:avLst/>
            </a:prstGeom>
            <a:solidFill>
              <a:srgbClr val="516BA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612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Remote Control Keys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19</a:t>
            </a:fld>
            <a:endParaRPr lang="pl-PL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594480"/>
            <a:ext cx="8229600" cy="4389120"/>
          </a:xfrm>
        </p:spPr>
        <p:txBody>
          <a:bodyPr/>
          <a:lstStyle/>
          <a:p>
            <a:r>
              <a:rPr lang="en-GB" dirty="0">
                <a:solidFill>
                  <a:srgbClr val="94C46F"/>
                </a:solidFill>
              </a:rPr>
              <a:t>If the application maps any remote control keys to custom functions, list the key mappings. </a:t>
            </a:r>
          </a:p>
          <a:p>
            <a:r>
              <a:rPr lang="en-GB" dirty="0">
                <a:solidFill>
                  <a:srgbClr val="94C46F"/>
                </a:solidFill>
              </a:rPr>
              <a:t>The “Return” and “Exit” key functions </a:t>
            </a:r>
            <a:r>
              <a:rPr lang="en-US" dirty="0">
                <a:solidFill>
                  <a:srgbClr val="94C46F"/>
                </a:solidFill>
              </a:rPr>
              <a:t>are mandatory and common to all applications. Do not modify them.</a:t>
            </a:r>
            <a:endParaRPr lang="pl-PL" dirty="0">
              <a:solidFill>
                <a:srgbClr val="94C46F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736217"/>
              </p:ext>
            </p:extLst>
          </p:nvPr>
        </p:nvGraphicFramePr>
        <p:xfrm>
          <a:off x="606388" y="2996952"/>
          <a:ext cx="7931223" cy="317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3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400" dirty="0"/>
                        <a:t>Key</a:t>
                      </a:r>
                      <a:endParaRPr lang="ko-KR" altLang="en-US" sz="1400" dirty="0"/>
                    </a:p>
                  </a:txBody>
                  <a:tcPr marL="108000" anchor="ctr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400" dirty="0"/>
                        <a:t>Action</a:t>
                      </a:r>
                      <a:endParaRPr lang="ko-KR" altLang="en-US" sz="1400" dirty="0"/>
                    </a:p>
                  </a:txBody>
                  <a:tcPr marL="108000" anchor="ctr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b="1" kern="1200">
                          <a:solidFill>
                            <a:schemeClr val="lt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atinLnBrk="1"/>
                      <a:r>
                        <a:rPr lang="en-US" altLang="ko-KR" sz="1400" dirty="0"/>
                        <a:t>Remarks</a:t>
                      </a:r>
                      <a:endParaRPr lang="ko-KR" altLang="en-US" sz="1400" dirty="0"/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RETURN</a:t>
                      </a: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Move to previous page.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Game applications must show a confirmation popup.</a:t>
                      </a: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Mandatory. Do not modify.</a:t>
                      </a:r>
                    </a:p>
                  </a:txBody>
                  <a:tcPr marL="108000" marR="36000" marT="36000" marB="360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EXIT</a:t>
                      </a: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Close the application and show the TV broadcast channel.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Game applications must show a confirmation popup.</a:t>
                      </a: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Mandatory. Do not modify.</a:t>
                      </a:r>
                    </a:p>
                  </a:txBody>
                  <a:tcPr marL="108000" marR="36000" marT="36000" marB="360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4C46F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ENTER</a:t>
                      </a: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4C46F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Switch between full-screen and windowed mode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94C46F"/>
                        </a:solidFill>
                        <a:effectLst/>
                        <a:latin typeface="+mj-lt"/>
                        <a:ea typeface="돋움" pitchFamily="50" charset="-127"/>
                      </a:endParaRP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4C46F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CHANNEL UP/DOWN</a:t>
                      </a: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4C46F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No action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94C46F"/>
                        </a:solidFill>
                        <a:effectLst/>
                        <a:latin typeface="+mj-lt"/>
                        <a:ea typeface="돋움" pitchFamily="50" charset="-127"/>
                      </a:endParaRP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4C46F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UP/DOWN</a:t>
                      </a: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4C46F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No action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94C46F"/>
                        </a:solidFill>
                        <a:effectLst/>
                        <a:latin typeface="+mj-lt"/>
                        <a:ea typeface="돋움" pitchFamily="50" charset="-127"/>
                      </a:endParaRP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4C46F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LEFT/RIGHT</a:t>
                      </a: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4C46F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Move highlight left/right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94C46F"/>
                        </a:solidFill>
                        <a:effectLst/>
                        <a:latin typeface="+mj-lt"/>
                        <a:ea typeface="돋움" pitchFamily="50" charset="-127"/>
                      </a:endParaRP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4C46F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YELLOW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94C46F"/>
                        </a:solidFill>
                        <a:effectLst/>
                        <a:latin typeface="+mj-lt"/>
                        <a:ea typeface="돋움" pitchFamily="50" charset="-127"/>
                      </a:endParaRP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4C46F"/>
                          </a:solidFill>
                          <a:effectLst/>
                          <a:latin typeface="+mj-lt"/>
                          <a:ea typeface="돋움" pitchFamily="50" charset="-127"/>
                        </a:rPr>
                        <a:t>View information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94C46F"/>
                        </a:solidFill>
                        <a:effectLst/>
                        <a:latin typeface="+mj-lt"/>
                        <a:ea typeface="돋움" pitchFamily="50" charset="-127"/>
                      </a:endParaRPr>
                    </a:p>
                  </a:txBody>
                  <a:tcPr marL="108000" marR="36000" marT="36000" marB="36000" anchor="ctr" horzOverflow="overflow"/>
                </a:tc>
                <a:tc>
                  <a:txBody>
                    <a:bodyPr/>
                    <a:lstStyle>
                      <a:lvl1pPr marL="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1pPr>
                      <a:lvl2pPr marL="457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2pPr>
                      <a:lvl3pPr marL="914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3pPr>
                      <a:lvl4pPr marL="1371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4pPr>
                      <a:lvl5pPr marL="18288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5pPr>
                      <a:lvl6pPr marL="22860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6pPr>
                      <a:lvl7pPr marL="27432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7pPr>
                      <a:lvl8pPr marL="32004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8pPr>
                      <a:lvl9pPr marL="3657600" algn="l" rtl="0" eaLnBrk="1" latinLnBrk="1" hangingPunct="1">
                        <a:defRPr kumimoji="0" kern="1200">
                          <a:solidFill>
                            <a:schemeClr val="dk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 marL="108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239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20</a:t>
            </a:fld>
            <a:endParaRPr lang="pl-PL" dirty="0"/>
          </a:p>
        </p:txBody>
      </p:sp>
      <p:sp>
        <p:nvSpPr>
          <p:cNvPr id="15" name="Rectangle 6"/>
          <p:cNvSpPr txBox="1">
            <a:spLocks noChangeArrowheads="1"/>
          </p:cNvSpPr>
          <p:nvPr/>
        </p:nvSpPr>
        <p:spPr bwMode="auto">
          <a:xfrm>
            <a:off x="527051" y="2501900"/>
            <a:ext cx="6997278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400" cap="none" baseline="0">
                <a:solidFill>
                  <a:srgbClr val="BFBFBF"/>
                </a:solidFill>
                <a:latin typeface="+mn-lt"/>
                <a:ea typeface="+mn-ea"/>
                <a:cs typeface="+mn-cs"/>
              </a:defRPr>
            </a:lvl1pPr>
            <a:lvl2pPr marL="179388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355600" indent="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None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542925" indent="-18891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714375" indent="-169863" algn="l" rtl="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charset="0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893763" indent="-179388" algn="l" rtl="0" eaLnBrk="1" fontAlgn="base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-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16287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0859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2543175" indent="-169863" algn="l" rtl="0" eaLnBrk="1" fontAlgn="base" hangingPunct="1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chemeClr val="bg1">
                    <a:lumMod val="75000"/>
                  </a:schemeClr>
                </a:solidFill>
                <a:cs typeface="Arial"/>
              </a:rPr>
              <a:t>UI Structure</a:t>
            </a:r>
            <a:endParaRPr lang="pl-PL" kern="0" dirty="0">
              <a:solidFill>
                <a:schemeClr val="bg1">
                  <a:lumMod val="75000"/>
                </a:schemeClr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solidFill>
                  <a:srgbClr val="FFFFFF">
                    <a:lumMod val="75000"/>
                  </a:srgbClr>
                </a:solidFill>
                <a:cs typeface="Arial"/>
              </a:rPr>
              <a:t>Use Cases</a:t>
            </a:r>
            <a:endParaRPr lang="pl-PL" kern="0" dirty="0">
              <a:solidFill>
                <a:srgbClr val="FFFFFF">
                  <a:lumMod val="75000"/>
                </a:srgbClr>
              </a:solidFill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cs typeface="Arial"/>
              </a:rPr>
              <a:t>Menus and Functions</a:t>
            </a:r>
            <a:endParaRPr lang="pl-PL" kern="0" dirty="0"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kern="0" dirty="0">
                <a:cs typeface="Arial"/>
              </a:rPr>
              <a:t>Remote Control Keys</a:t>
            </a:r>
            <a:endParaRPr lang="pl-PL" kern="0" dirty="0">
              <a:cs typeface="Arial"/>
            </a:endParaRPr>
          </a:p>
          <a:p>
            <a:pPr lvl="0" latinLnBrk="0">
              <a:buClr>
                <a:srgbClr val="000000"/>
              </a:buClr>
              <a:defRPr/>
            </a:pPr>
            <a:r>
              <a:rPr lang="en-US" b="1" kern="0" dirty="0">
                <a:solidFill>
                  <a:srgbClr val="2B3957"/>
                </a:solidFill>
                <a:cs typeface="Arial"/>
              </a:rPr>
              <a:t>Language Options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2B3957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Symbol" pitchFamily="18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6" name="Grupp 3"/>
          <p:cNvGrpSpPr>
            <a:grpSpLocks/>
          </p:cNvGrpSpPr>
          <p:nvPr/>
        </p:nvGrpSpPr>
        <p:grpSpPr bwMode="auto">
          <a:xfrm>
            <a:off x="0" y="3501008"/>
            <a:ext cx="331788" cy="323850"/>
            <a:chOff x="3044126" y="1710821"/>
            <a:chExt cx="331004" cy="547536"/>
          </a:xfrm>
        </p:grpSpPr>
        <p:sp>
          <p:nvSpPr>
            <p:cNvPr id="17" name="Rektangel med rundade hörn 4"/>
            <p:cNvSpPr/>
            <p:nvPr/>
          </p:nvSpPr>
          <p:spPr>
            <a:xfrm>
              <a:off x="3044126" y="1710821"/>
              <a:ext cx="221725" cy="54485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B3957"/>
                </a:gs>
                <a:gs pos="79000">
                  <a:srgbClr val="516BA5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/>
                <a:cs typeface="Helvetica Neue"/>
              </a:endParaRPr>
            </a:p>
          </p:txBody>
        </p:sp>
        <p:sp>
          <p:nvSpPr>
            <p:cNvPr id="18" name="Likbent triangel 5"/>
            <p:cNvSpPr/>
            <p:nvPr/>
          </p:nvSpPr>
          <p:spPr>
            <a:xfrm rot="5400000">
              <a:off x="3045931" y="1929157"/>
              <a:ext cx="547536" cy="110862"/>
            </a:xfrm>
            <a:prstGeom prst="triangle">
              <a:avLst/>
            </a:prstGeom>
            <a:solidFill>
              <a:srgbClr val="516BA5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sv-SE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5701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Language Options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AF35AD-09C2-4EBD-8934-72FD947EF48F}" type="slidenum">
              <a:rPr lang="pl-PL" smtClean="0"/>
              <a:pPr/>
              <a:t>21</a:t>
            </a:fld>
            <a:endParaRPr lang="pl-PL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594480"/>
            <a:ext cx="8229600" cy="4389120"/>
          </a:xfrm>
        </p:spPr>
        <p:txBody>
          <a:bodyPr/>
          <a:lstStyle/>
          <a:p>
            <a:r>
              <a:rPr lang="en-GB" sz="1600" dirty="0">
                <a:solidFill>
                  <a:srgbClr val="94C46F"/>
                </a:solidFill>
              </a:rPr>
              <a:t>If the application supports multiple languages, describe how the user can switch the application language.</a:t>
            </a:r>
          </a:p>
          <a:p>
            <a:r>
              <a:rPr lang="en-GB" sz="1600" dirty="0">
                <a:solidFill>
                  <a:srgbClr val="94C46F"/>
                </a:solidFill>
              </a:rPr>
              <a:t>The following description is an example only.</a:t>
            </a:r>
          </a:p>
          <a:p>
            <a:endParaRPr lang="en-GB" sz="1600" dirty="0">
              <a:solidFill>
                <a:srgbClr val="94C46F"/>
              </a:solidFill>
            </a:endParaRPr>
          </a:p>
          <a:p>
            <a:r>
              <a:rPr lang="en-GB" sz="1600" dirty="0">
                <a:solidFill>
                  <a:srgbClr val="94C46F"/>
                </a:solidFill>
              </a:rPr>
              <a:t>To switch the application language:</a:t>
            </a:r>
          </a:p>
          <a:p>
            <a:pPr marL="697230" lvl="1" indent="-342900">
              <a:buFont typeface="+mj-lt"/>
              <a:buAutoNum type="arabicPeriod"/>
            </a:pPr>
            <a:r>
              <a:rPr lang="en-GB" sz="1600" dirty="0">
                <a:solidFill>
                  <a:srgbClr val="94C46F"/>
                </a:solidFill>
              </a:rPr>
              <a:t>From the Picture List page, select “Options”.</a:t>
            </a:r>
          </a:p>
          <a:p>
            <a:pPr marL="697230" lvl="1" indent="-342900">
              <a:buFont typeface="+mj-lt"/>
              <a:buAutoNum type="arabicPeriod"/>
            </a:pPr>
            <a:r>
              <a:rPr lang="en-GB" sz="1600" dirty="0">
                <a:solidFill>
                  <a:srgbClr val="94C46F"/>
                </a:solidFill>
              </a:rPr>
              <a:t>Select the language you want from the “Language” drop-down menu.</a:t>
            </a:r>
          </a:p>
          <a:p>
            <a:pPr marL="697230" lvl="1" indent="-342900">
              <a:buFont typeface="+mj-lt"/>
              <a:buAutoNum type="arabicPeriod"/>
            </a:pPr>
            <a:r>
              <a:rPr lang="en-GB" sz="1600" dirty="0">
                <a:solidFill>
                  <a:srgbClr val="94C46F"/>
                </a:solidFill>
              </a:rPr>
              <a:t>Select “Save”.</a:t>
            </a:r>
          </a:p>
          <a:p>
            <a:pPr marL="697230" lvl="1" indent="-342900">
              <a:buFont typeface="+mj-lt"/>
              <a:buAutoNum type="arabicPeriod"/>
            </a:pPr>
            <a:r>
              <a:rPr lang="en-GB" sz="1600" dirty="0">
                <a:solidFill>
                  <a:srgbClr val="94C46F"/>
                </a:solidFill>
              </a:rPr>
              <a:t>To use the application in the new language, exit and restart the application.</a:t>
            </a:r>
          </a:p>
          <a:p>
            <a:endParaRPr lang="en-GB" sz="1600" dirty="0">
              <a:solidFill>
                <a:srgbClr val="94C46F"/>
              </a:solidFill>
            </a:endParaRPr>
          </a:p>
          <a:p>
            <a:r>
              <a:rPr lang="en-GB" sz="1600" dirty="0">
                <a:solidFill>
                  <a:srgbClr val="94C46F"/>
                </a:solidFill>
              </a:rPr>
              <a:t>Otherwise, include the following text:</a:t>
            </a:r>
          </a:p>
          <a:p>
            <a:pPr lvl="1"/>
            <a:r>
              <a:rPr lang="en-GB" sz="1600" dirty="0"/>
              <a:t>The application does not support multiple languages.</a:t>
            </a:r>
          </a:p>
        </p:txBody>
      </p:sp>
    </p:spTree>
    <p:extLst>
      <p:ext uri="{BB962C8B-B14F-4D97-AF65-F5344CB8AC3E}">
        <p14:creationId xmlns:p14="http://schemas.microsoft.com/office/powerpoint/2010/main" val="31900614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흐름">
  <a:themeElements>
    <a:clrScheme name="Custom 3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374971"/>
      </a:accent3>
      <a:accent4>
        <a:srgbClr val="D8B25C"/>
      </a:accent4>
      <a:accent5>
        <a:srgbClr val="3B3838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흐름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nguage-Optio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emote-Key-map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creen-Element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UI-Structur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Use-Cas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plication Na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흐름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4140</TotalTime>
  <Words>991</Words>
  <Application>Microsoft Office PowerPoint</Application>
  <PresentationFormat>On-screen Show (4:3)</PresentationFormat>
  <Paragraphs>222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21</vt:i4>
      </vt:variant>
    </vt:vector>
  </HeadingPairs>
  <TitlesOfParts>
    <vt:vector size="37" baseType="lpstr">
      <vt:lpstr>돋움</vt:lpstr>
      <vt:lpstr>굴림</vt:lpstr>
      <vt:lpstr>Arial</vt:lpstr>
      <vt:lpstr>Calibri</vt:lpstr>
      <vt:lpstr>Helvetica Neue</vt:lpstr>
      <vt:lpstr>Symbol</vt:lpstr>
      <vt:lpstr>Wingdings</vt:lpstr>
      <vt:lpstr>Wingdings 2</vt:lpstr>
      <vt:lpstr>흐름</vt:lpstr>
      <vt:lpstr>1_흐름</vt:lpstr>
      <vt:lpstr>Language-Option</vt:lpstr>
      <vt:lpstr>Remote-Key-map</vt:lpstr>
      <vt:lpstr>Screen-Element</vt:lpstr>
      <vt:lpstr>UI-Structure</vt:lpstr>
      <vt:lpstr>Use-Case</vt:lpstr>
      <vt:lpstr>Application Name</vt:lpstr>
      <vt:lpstr>Application UI Description Template </vt:lpstr>
      <vt:lpstr>PowerPoint Presentation</vt:lpstr>
      <vt:lpstr>Revision History</vt:lpstr>
      <vt:lpstr>Contents</vt:lpstr>
      <vt:lpstr>UI Structure</vt:lpstr>
      <vt:lpstr>UI Structure</vt:lpstr>
      <vt:lpstr>UI Structure</vt:lpstr>
      <vt:lpstr>UI Structure</vt:lpstr>
      <vt:lpstr>Contents</vt:lpstr>
      <vt:lpstr>Use Cases</vt:lpstr>
      <vt:lpstr>Use Cases – User Login</vt:lpstr>
      <vt:lpstr>Use Cases – Menu Browsing</vt:lpstr>
      <vt:lpstr>Use Cases – In-app Purchase</vt:lpstr>
      <vt:lpstr>Contents</vt:lpstr>
      <vt:lpstr>Menus and Functions</vt:lpstr>
      <vt:lpstr>Menus and Functions</vt:lpstr>
      <vt:lpstr>Menus and Functions</vt:lpstr>
      <vt:lpstr>Contents</vt:lpstr>
      <vt:lpstr>Remote Control Keys</vt:lpstr>
      <vt:lpstr>Contents</vt:lpstr>
      <vt:lpstr>Language Options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Windows 사용자</dc:creator>
  <cp:lastModifiedBy>Lau, Mildred</cp:lastModifiedBy>
  <cp:revision>190</cp:revision>
  <dcterms:created xsi:type="dcterms:W3CDTF">2012-04-25T04:15:24Z</dcterms:created>
  <dcterms:modified xsi:type="dcterms:W3CDTF">2018-04-10T10:11:11Z</dcterms:modified>
</cp:coreProperties>
</file>